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1FDD5A-DFDD-4262-8AFD-3041D88E0859}" v="2" dt="2026-10-11T05:52:13.9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993" autoAdjust="0"/>
  </p:normalViewPr>
  <p:slideViewPr>
    <p:cSldViewPr snapToGrid="0" snapToObjects="1">
      <p:cViewPr varScale="1">
        <p:scale>
          <a:sx n="63" d="100"/>
          <a:sy n="63" d="100"/>
        </p:scale>
        <p:origin x="466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stislav Kozlik" userId="4e126f07-5cab-41cb-93f3-928e529ad277" providerId="ADAL" clId="{3C2278F8-E3B4-4D82-9D93-A3104389D61B}"/>
    <pc:docChg chg="undo custSel delSld modSld modNotesMaster">
      <pc:chgData name="Rastislav Kozlik" userId="4e126f07-5cab-41cb-93f3-928e529ad277" providerId="ADAL" clId="{3C2278F8-E3B4-4D82-9D93-A3104389D61B}" dt="2026-10-11T05:54:16.040" v="125" actId="47"/>
      <pc:docMkLst>
        <pc:docMk/>
      </pc:docMkLst>
      <pc:sldChg chg="modNotesTx">
        <pc:chgData name="Rastislav Kozlik" userId="4e126f07-5cab-41cb-93f3-928e529ad277" providerId="ADAL" clId="{3C2278F8-E3B4-4D82-9D93-A3104389D61B}" dt="2026-10-10T08:53:26.945" v="5" actId="113"/>
        <pc:sldMkLst>
          <pc:docMk/>
          <pc:sldMk cId="0" sldId="259"/>
        </pc:sldMkLst>
      </pc:sldChg>
      <pc:sldChg chg="modSp mod">
        <pc:chgData name="Rastislav Kozlik" userId="4e126f07-5cab-41cb-93f3-928e529ad277" providerId="ADAL" clId="{3C2278F8-E3B4-4D82-9D93-A3104389D61B}" dt="2026-10-10T09:10:23.460" v="12" actId="20577"/>
        <pc:sldMkLst>
          <pc:docMk/>
          <pc:sldMk cId="0" sldId="263"/>
        </pc:sldMkLst>
        <pc:graphicFrameChg chg="modGraphic">
          <ac:chgData name="Rastislav Kozlik" userId="4e126f07-5cab-41cb-93f3-928e529ad277" providerId="ADAL" clId="{3C2278F8-E3B4-4D82-9D93-A3104389D61B}" dt="2026-10-10T09:10:23.460" v="12" actId="20577"/>
          <ac:graphicFrameMkLst>
            <pc:docMk/>
            <pc:sldMk cId="0" sldId="263"/>
            <ac:graphicFrameMk id="7" creationId="{00000000-0000-0000-0000-000000000000}"/>
          </ac:graphicFrameMkLst>
        </pc:graphicFrameChg>
      </pc:sldChg>
      <pc:sldChg chg="modSp mod">
        <pc:chgData name="Rastislav Kozlik" userId="4e126f07-5cab-41cb-93f3-928e529ad277" providerId="ADAL" clId="{3C2278F8-E3B4-4D82-9D93-A3104389D61B}" dt="2026-10-11T05:42:29.766" v="71" actId="26606"/>
        <pc:sldMkLst>
          <pc:docMk/>
          <pc:sldMk cId="0" sldId="265"/>
        </pc:sldMkLst>
        <pc:graphicFrameChg chg="add mod modGraphic">
          <ac:chgData name="Rastislav Kozlik" userId="4e126f07-5cab-41cb-93f3-928e529ad277" providerId="ADAL" clId="{3C2278F8-E3B4-4D82-9D93-A3104389D61B}" dt="2026-10-11T05:42:29.766" v="71" actId="26606"/>
          <ac:graphicFrameMkLst>
            <pc:docMk/>
            <pc:sldMk cId="0" sldId="265"/>
            <ac:graphicFrameMk id="7" creationId="{00000000-0000-0000-0000-000000000000}"/>
          </ac:graphicFrameMkLst>
        </pc:graphicFrameChg>
      </pc:sldChg>
      <pc:sldChg chg="modSp mod">
        <pc:chgData name="Rastislav Kozlik" userId="4e126f07-5cab-41cb-93f3-928e529ad277" providerId="ADAL" clId="{3C2278F8-E3B4-4D82-9D93-A3104389D61B}" dt="2026-10-11T05:46:30.086" v="79" actId="20577"/>
        <pc:sldMkLst>
          <pc:docMk/>
          <pc:sldMk cId="0" sldId="267"/>
        </pc:sldMkLst>
        <pc:spChg chg="mod">
          <ac:chgData name="Rastislav Kozlik" userId="4e126f07-5cab-41cb-93f3-928e529ad277" providerId="ADAL" clId="{3C2278F8-E3B4-4D82-9D93-A3104389D61B}" dt="2026-10-11T05:46:30.086" v="79" actId="20577"/>
          <ac:spMkLst>
            <pc:docMk/>
            <pc:sldMk cId="0" sldId="267"/>
            <ac:spMk id="2" creationId="{00000000-0000-0000-0000-000000000000}"/>
          </ac:spMkLst>
        </pc:spChg>
      </pc:sldChg>
      <pc:sldChg chg="modSp mod">
        <pc:chgData name="Rastislav Kozlik" userId="4e126f07-5cab-41cb-93f3-928e529ad277" providerId="ADAL" clId="{3C2278F8-E3B4-4D82-9D93-A3104389D61B}" dt="2026-10-11T05:47:43.311" v="86" actId="20577"/>
        <pc:sldMkLst>
          <pc:docMk/>
          <pc:sldMk cId="0" sldId="268"/>
        </pc:sldMkLst>
        <pc:graphicFrameChg chg="modGraphic">
          <ac:chgData name="Rastislav Kozlik" userId="4e126f07-5cab-41cb-93f3-928e529ad277" providerId="ADAL" clId="{3C2278F8-E3B4-4D82-9D93-A3104389D61B}" dt="2026-10-11T05:47:43.311" v="86" actId="20577"/>
          <ac:graphicFrameMkLst>
            <pc:docMk/>
            <pc:sldMk cId="0" sldId="268"/>
            <ac:graphicFrameMk id="7" creationId="{00000000-0000-0000-0000-000000000000}"/>
          </ac:graphicFrameMkLst>
        </pc:graphicFrameChg>
      </pc:sldChg>
      <pc:sldChg chg="addSp modSp mod">
        <pc:chgData name="Rastislav Kozlik" userId="4e126f07-5cab-41cb-93f3-928e529ad277" providerId="ADAL" clId="{3C2278F8-E3B4-4D82-9D93-A3104389D61B}" dt="2026-10-11T05:52:13.984" v="102" actId="164"/>
        <pc:sldMkLst>
          <pc:docMk/>
          <pc:sldMk cId="0" sldId="270"/>
        </pc:sldMkLst>
        <pc:spChg chg="mod">
          <ac:chgData name="Rastislav Kozlik" userId="4e126f07-5cab-41cb-93f3-928e529ad277" providerId="ADAL" clId="{3C2278F8-E3B4-4D82-9D93-A3104389D61B}" dt="2026-10-11T05:49:41.048" v="96" actId="20577"/>
          <ac:spMkLst>
            <pc:docMk/>
            <pc:sldMk cId="0" sldId="270"/>
            <ac:spMk id="2" creationId="{00000000-0000-0000-0000-000000000000}"/>
          </ac:spMkLst>
        </pc:spChg>
        <pc:grpChg chg="add mod">
          <ac:chgData name="Rastislav Kozlik" userId="4e126f07-5cab-41cb-93f3-928e529ad277" providerId="ADAL" clId="{3C2278F8-E3B4-4D82-9D93-A3104389D61B}" dt="2026-10-11T05:52:13.984" v="102" actId="164"/>
          <ac:grpSpMkLst>
            <pc:docMk/>
            <pc:sldMk cId="0" sldId="270"/>
            <ac:grpSpMk id="10" creationId="{B7AE2466-BBF0-FE71-1679-B2074A43B1CA}"/>
          </ac:grpSpMkLst>
        </pc:grpChg>
        <pc:picChg chg="mod">
          <ac:chgData name="Rastislav Kozlik" userId="4e126f07-5cab-41cb-93f3-928e529ad277" providerId="ADAL" clId="{3C2278F8-E3B4-4D82-9D93-A3104389D61B}" dt="2026-10-11T05:52:13.984" v="102" actId="164"/>
          <ac:picMkLst>
            <pc:docMk/>
            <pc:sldMk cId="0" sldId="270"/>
            <ac:picMk id="8" creationId="{00000000-0000-0000-0000-000000000000}"/>
          </ac:picMkLst>
        </pc:picChg>
        <pc:picChg chg="add mod">
          <ac:chgData name="Rastislav Kozlik" userId="4e126f07-5cab-41cb-93f3-928e529ad277" providerId="ADAL" clId="{3C2278F8-E3B4-4D82-9D93-A3104389D61B}" dt="2026-10-11T05:52:13.984" v="102" actId="164"/>
          <ac:picMkLst>
            <pc:docMk/>
            <pc:sldMk cId="0" sldId="270"/>
            <ac:picMk id="9" creationId="{00000000-0000-0000-0000-000000000000}"/>
          </ac:picMkLst>
        </pc:picChg>
      </pc:sldChg>
      <pc:sldChg chg="modSp mod">
        <pc:chgData name="Rastislav Kozlik" userId="4e126f07-5cab-41cb-93f3-928e529ad277" providerId="ADAL" clId="{3C2278F8-E3B4-4D82-9D93-A3104389D61B}" dt="2026-10-11T05:53:31.927" v="124" actId="20577"/>
        <pc:sldMkLst>
          <pc:docMk/>
          <pc:sldMk cId="0" sldId="272"/>
        </pc:sldMkLst>
        <pc:spChg chg="mod">
          <ac:chgData name="Rastislav Kozlik" userId="4e126f07-5cab-41cb-93f3-928e529ad277" providerId="ADAL" clId="{3C2278F8-E3B4-4D82-9D93-A3104389D61B}" dt="2026-10-11T05:53:31.927" v="124" actId="20577"/>
          <ac:spMkLst>
            <pc:docMk/>
            <pc:sldMk cId="0" sldId="272"/>
            <ac:spMk id="8" creationId="{00000000-0000-0000-0000-000000000000}"/>
          </ac:spMkLst>
        </pc:spChg>
      </pc:sldChg>
      <pc:sldChg chg="modNotesTx">
        <pc:chgData name="Rastislav Kozlik" userId="4e126f07-5cab-41cb-93f3-928e529ad277" providerId="ADAL" clId="{3C2278F8-E3B4-4D82-9D93-A3104389D61B}" dt="2026-10-10T09:30:12.053" v="13" actId="20577"/>
        <pc:sldMkLst>
          <pc:docMk/>
          <pc:sldMk cId="0" sldId="274"/>
        </pc:sldMkLst>
      </pc:sldChg>
      <pc:sldChg chg="del">
        <pc:chgData name="Rastislav Kozlik" userId="4e126f07-5cab-41cb-93f3-928e529ad277" providerId="ADAL" clId="{3C2278F8-E3B4-4D82-9D93-A3104389D61B}" dt="2026-10-11T05:54:16.040" v="125" actId="47"/>
        <pc:sldMkLst>
          <pc:docMk/>
          <pc:sldMk cId="0" sldId="27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4855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Slajd 01</a:t>
            </a:r>
          </a:p>
          <a:p>
            <a:r>
              <a:t>Čas: 1 min (9:00–9:01).</a:t>
            </a:r>
          </a:p>
          <a:p>
            <a:r>
              <a:t>Privítaj účastníkov. Poznajú ťa z predchádzajúceho školenia, predstavenie stačí jednou vetou.</a:t>
            </a:r>
          </a:p>
          <a:p>
            <a:r>
              <a:t>Povedz cieľ bloku: za 60 minút sa zorientovať vo firemnom priestore, pochopiť rozdiel medzi četom, projektom a agentom a urobiť prvý malý projekt.</a:t>
            </a:r>
          </a:p>
          <a:p>
            <a:r>
              <a:t>Upozorni, že na konci bloku je 15-minútové cvičenie. Dovtedy nech majú notebook otvorený a sú prihlásení na chatgpt.com.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Slajd 02</a:t>
            </a:r>
          </a:p>
          <a:p>
            <a:r>
              <a:t>Čas: 2 min (9:01–9:03).</a:t>
            </a:r>
          </a:p>
          <a:p>
            <a:r>
              <a:t>Prejdi plán dvoch dní: dnes doobeda spoločný prípad (modelová zákazka skladovej haly), poobede návrh vlastného projektu, v utorok testovanie, test kolegom a krátke predstavenie výsledkov.</a:t>
            </a:r>
          </a:p>
          <a:p>
            <a:r>
              <a:t>Zdôrazni, že asi 70 % času budú pracovať sami. Výklad je krátky a slúži na to, aby vedeli, kde čo je.</a:t>
            </a:r>
          </a:p>
          <a:p>
            <a:r>
              <a:t>Témy si vyberajú zo siedmich oblastí od p. Grobarčíka. Technici z tém 1–4, obchodníci z tém 5–7.</a:t>
            </a:r>
          </a:p>
          <a:p>
            <a:r>
              <a:t>Otázka pre účastníkov: „Kto už má predstavu, na ktorej úlohe chce pracovať?“ Stačí zdvihnúť ruku, nekomentuj.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Slajd</a:t>
            </a:r>
            <a:r>
              <a:rPr dirty="0"/>
              <a:t> 03</a:t>
            </a:r>
          </a:p>
          <a:p>
            <a:r>
              <a:rPr dirty="0"/>
              <a:t>Čas: 2 min (9:03–9:05).</a:t>
            </a:r>
          </a:p>
          <a:p>
            <a:r>
              <a:rPr dirty="0" err="1"/>
              <a:t>Ukáž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plátne</a:t>
            </a:r>
            <a:r>
              <a:rPr dirty="0"/>
              <a:t> </a:t>
            </a:r>
            <a:r>
              <a:rPr dirty="0" err="1"/>
              <a:t>ľavý</a:t>
            </a:r>
            <a:r>
              <a:rPr dirty="0"/>
              <a:t> </a:t>
            </a:r>
            <a:r>
              <a:rPr dirty="0" err="1"/>
              <a:t>dolný</a:t>
            </a:r>
            <a:r>
              <a:rPr dirty="0"/>
              <a:t> </a:t>
            </a:r>
            <a:r>
              <a:rPr dirty="0" err="1"/>
              <a:t>roh</a:t>
            </a:r>
            <a:r>
              <a:rPr dirty="0"/>
              <a:t>: „BHR </a:t>
            </a:r>
            <a:r>
              <a:rPr dirty="0" err="1"/>
              <a:t>Biznis</a:t>
            </a:r>
            <a:r>
              <a:rPr dirty="0"/>
              <a:t> DEMO – Business“. Nech </a:t>
            </a:r>
            <a:r>
              <a:rPr dirty="0" err="1"/>
              <a:t>si</a:t>
            </a:r>
            <a:r>
              <a:rPr dirty="0"/>
              <a:t> to </a:t>
            </a:r>
            <a:r>
              <a:rPr dirty="0" err="1"/>
              <a:t>každý</a:t>
            </a:r>
            <a:r>
              <a:rPr dirty="0"/>
              <a:t> </a:t>
            </a:r>
            <a:r>
              <a:rPr dirty="0" err="1"/>
              <a:t>skontroluje</a:t>
            </a:r>
            <a:r>
              <a:rPr dirty="0"/>
              <a:t> u </a:t>
            </a:r>
            <a:r>
              <a:rPr dirty="0" err="1"/>
              <a:t>seba</a:t>
            </a:r>
            <a:r>
              <a:rPr dirty="0"/>
              <a:t>.</a:t>
            </a:r>
          </a:p>
          <a:p>
            <a:r>
              <a:rPr dirty="0"/>
              <a:t>Ak </a:t>
            </a:r>
            <a:r>
              <a:rPr dirty="0" err="1"/>
              <a:t>má</a:t>
            </a:r>
            <a:r>
              <a:rPr dirty="0"/>
              <a:t> </a:t>
            </a:r>
            <a:r>
              <a:rPr dirty="0" err="1"/>
              <a:t>niekto</a:t>
            </a:r>
            <a:r>
              <a:rPr dirty="0"/>
              <a:t> </a:t>
            </a:r>
            <a:r>
              <a:rPr dirty="0" err="1"/>
              <a:t>aj</a:t>
            </a:r>
            <a:r>
              <a:rPr dirty="0"/>
              <a:t> </a:t>
            </a:r>
            <a:r>
              <a:rPr dirty="0" err="1"/>
              <a:t>osobný</a:t>
            </a:r>
            <a:r>
              <a:rPr dirty="0"/>
              <a:t> </a:t>
            </a:r>
            <a:r>
              <a:rPr dirty="0" err="1"/>
              <a:t>účet</a:t>
            </a:r>
            <a:r>
              <a:rPr dirty="0"/>
              <a:t> ChatGPT, </a:t>
            </a:r>
            <a:r>
              <a:rPr dirty="0" err="1"/>
              <a:t>nech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overí</a:t>
            </a:r>
            <a:r>
              <a:rPr dirty="0"/>
              <a:t>, </a:t>
            </a:r>
            <a:r>
              <a:rPr dirty="0" err="1"/>
              <a:t>že</a:t>
            </a:r>
            <a:r>
              <a:rPr dirty="0"/>
              <a:t> </a:t>
            </a:r>
            <a:r>
              <a:rPr dirty="0" err="1"/>
              <a:t>pracuje</a:t>
            </a:r>
            <a:r>
              <a:rPr dirty="0"/>
              <a:t> </a:t>
            </a:r>
            <a:r>
              <a:rPr dirty="0" err="1"/>
              <a:t>vo</a:t>
            </a:r>
            <a:r>
              <a:rPr dirty="0"/>
              <a:t> </a:t>
            </a:r>
            <a:r>
              <a:rPr dirty="0" err="1"/>
              <a:t>firemnom</a:t>
            </a:r>
            <a:r>
              <a:rPr dirty="0"/>
              <a:t> </a:t>
            </a:r>
            <a:r>
              <a:rPr dirty="0" err="1"/>
              <a:t>priestore</a:t>
            </a:r>
            <a:r>
              <a:rPr dirty="0"/>
              <a:t>. </a:t>
            </a:r>
            <a:r>
              <a:rPr dirty="0" err="1"/>
              <a:t>Postup</a:t>
            </a:r>
            <a:r>
              <a:rPr dirty="0"/>
              <a:t> </a:t>
            </a:r>
            <a:r>
              <a:rPr dirty="0" err="1"/>
              <a:t>prepínania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pred </a:t>
            </a:r>
            <a:r>
              <a:rPr dirty="0" err="1"/>
              <a:t>workshopom</a:t>
            </a:r>
            <a:r>
              <a:rPr dirty="0"/>
              <a:t> </a:t>
            </a:r>
            <a:r>
              <a:rPr dirty="0" err="1"/>
              <a:t>vyskúšaj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vlastnom</a:t>
            </a:r>
            <a:r>
              <a:rPr dirty="0"/>
              <a:t> </a:t>
            </a:r>
            <a:r>
              <a:rPr dirty="0" err="1"/>
              <a:t>účte</a:t>
            </a:r>
            <a:r>
              <a:rPr dirty="0"/>
              <a:t>, v </a:t>
            </a:r>
            <a:r>
              <a:rPr dirty="0" err="1"/>
              <a:t>dokumentácii</a:t>
            </a:r>
            <a:r>
              <a:rPr dirty="0"/>
              <a:t> </a:t>
            </a:r>
            <a:r>
              <a:rPr dirty="0" err="1"/>
              <a:t>nie</a:t>
            </a:r>
            <a:r>
              <a:rPr dirty="0"/>
              <a:t> je </a:t>
            </a:r>
            <a:r>
              <a:rPr dirty="0" err="1"/>
              <a:t>opísaný</a:t>
            </a:r>
            <a:r>
              <a:rPr dirty="0"/>
              <a:t> pre </a:t>
            </a:r>
            <a:r>
              <a:rPr dirty="0" err="1"/>
              <a:t>slovenské</a:t>
            </a:r>
            <a:r>
              <a:rPr dirty="0"/>
              <a:t> </a:t>
            </a:r>
            <a:r>
              <a:rPr dirty="0" err="1"/>
              <a:t>rozhranie</a:t>
            </a:r>
            <a:r>
              <a:rPr dirty="0"/>
              <a:t>.</a:t>
            </a:r>
          </a:p>
          <a:p>
            <a:r>
              <a:rPr dirty="0" err="1"/>
              <a:t>Dôležité</a:t>
            </a:r>
            <a:r>
              <a:rPr dirty="0"/>
              <a:t>: </a:t>
            </a:r>
            <a:r>
              <a:rPr dirty="0" err="1"/>
              <a:t>priestor</a:t>
            </a:r>
            <a:r>
              <a:rPr dirty="0"/>
              <a:t> BHR </a:t>
            </a:r>
            <a:r>
              <a:rPr dirty="0" err="1"/>
              <a:t>Biznis</a:t>
            </a:r>
            <a:r>
              <a:rPr dirty="0"/>
              <a:t> DEMO je </a:t>
            </a:r>
            <a:r>
              <a:rPr dirty="0" err="1"/>
              <a:t>dočasný</a:t>
            </a:r>
            <a:r>
              <a:rPr dirty="0"/>
              <a:t> a </a:t>
            </a:r>
            <a:r>
              <a:rPr dirty="0" err="1"/>
              <a:t>zriadil</a:t>
            </a:r>
            <a:r>
              <a:rPr dirty="0"/>
              <a:t> ho </a:t>
            </a:r>
            <a:r>
              <a:rPr dirty="0" err="1"/>
              <a:t>lektor</a:t>
            </a:r>
            <a:r>
              <a:rPr dirty="0"/>
              <a:t>. </a:t>
            </a:r>
            <a:r>
              <a:rPr dirty="0" err="1"/>
              <a:t>Projekty</a:t>
            </a:r>
            <a:r>
              <a:rPr dirty="0"/>
              <a:t> z </a:t>
            </a:r>
            <a:r>
              <a:rPr dirty="0" err="1"/>
              <a:t>workshopu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po </a:t>
            </a:r>
            <a:r>
              <a:rPr dirty="0" err="1"/>
              <a:t>jeho</a:t>
            </a:r>
            <a:r>
              <a:rPr dirty="0"/>
              <a:t> </a:t>
            </a:r>
            <a:r>
              <a:rPr dirty="0" err="1"/>
              <a:t>zrušení</a:t>
            </a:r>
            <a:r>
              <a:rPr dirty="0"/>
              <a:t> </a:t>
            </a:r>
            <a:r>
              <a:rPr dirty="0" err="1"/>
              <a:t>stratia</a:t>
            </a:r>
            <a:r>
              <a:rPr dirty="0"/>
              <a:t>. Preto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inštrukcie</a:t>
            </a:r>
            <a:r>
              <a:rPr dirty="0"/>
              <a:t>, testy a </a:t>
            </a:r>
            <a:r>
              <a:rPr dirty="0" err="1"/>
              <a:t>zoznam</a:t>
            </a:r>
            <a:r>
              <a:rPr dirty="0"/>
              <a:t> </a:t>
            </a:r>
            <a:r>
              <a:rPr dirty="0" err="1"/>
              <a:t>podkladov</a:t>
            </a:r>
            <a:r>
              <a:rPr dirty="0"/>
              <a:t> </a:t>
            </a:r>
            <a:r>
              <a:rPr dirty="0" err="1"/>
              <a:t>zapisujú</a:t>
            </a:r>
            <a:r>
              <a:rPr dirty="0"/>
              <a:t> do </a:t>
            </a:r>
            <a:r>
              <a:rPr dirty="0" err="1"/>
              <a:t>pracovného</a:t>
            </a:r>
            <a:r>
              <a:rPr dirty="0"/>
              <a:t> </a:t>
            </a:r>
            <a:r>
              <a:rPr dirty="0" err="1"/>
              <a:t>zošita</a:t>
            </a:r>
            <a:r>
              <a:rPr dirty="0"/>
              <a:t>. Z </a:t>
            </a:r>
            <a:r>
              <a:rPr dirty="0" err="1"/>
              <a:t>neho</a:t>
            </a:r>
            <a:r>
              <a:rPr dirty="0"/>
              <a:t> </a:t>
            </a:r>
            <a:r>
              <a:rPr dirty="0" err="1"/>
              <a:t>projekt</a:t>
            </a:r>
            <a:r>
              <a:rPr dirty="0"/>
              <a:t> </a:t>
            </a:r>
            <a:r>
              <a:rPr dirty="0" err="1"/>
              <a:t>neskôr</a:t>
            </a:r>
            <a:r>
              <a:rPr dirty="0"/>
              <a:t> </a:t>
            </a:r>
            <a:r>
              <a:rPr dirty="0" err="1"/>
              <a:t>obnovia</a:t>
            </a:r>
            <a:r>
              <a:rPr dirty="0"/>
              <a:t> </a:t>
            </a:r>
            <a:r>
              <a:rPr dirty="0" err="1"/>
              <a:t>vo</a:t>
            </a:r>
            <a:r>
              <a:rPr dirty="0"/>
              <a:t> </a:t>
            </a:r>
            <a:r>
              <a:rPr dirty="0" err="1"/>
              <a:t>firemnom</a:t>
            </a:r>
            <a:r>
              <a:rPr dirty="0"/>
              <a:t> </a:t>
            </a:r>
            <a:r>
              <a:rPr dirty="0" err="1"/>
              <a:t>priestore</a:t>
            </a:r>
            <a:r>
              <a:rPr dirty="0"/>
              <a:t> </a:t>
            </a:r>
            <a:r>
              <a:rPr dirty="0" err="1"/>
              <a:t>Altenovy</a:t>
            </a:r>
            <a:r>
              <a:rPr dirty="0"/>
              <a:t>.</a:t>
            </a:r>
          </a:p>
          <a:p>
            <a:r>
              <a:rPr dirty="0" err="1"/>
              <a:t>Firemné</a:t>
            </a:r>
            <a:r>
              <a:rPr dirty="0"/>
              <a:t> </a:t>
            </a:r>
            <a:r>
              <a:rPr dirty="0" err="1"/>
              <a:t>dokumenty</a:t>
            </a:r>
            <a:r>
              <a:rPr dirty="0"/>
              <a:t>: </a:t>
            </a:r>
            <a:r>
              <a:rPr dirty="0" err="1"/>
              <a:t>nahrávame</a:t>
            </a:r>
            <a:r>
              <a:rPr dirty="0"/>
              <a:t> </a:t>
            </a:r>
            <a:r>
              <a:rPr dirty="0" err="1"/>
              <a:t>iba</a:t>
            </a:r>
            <a:r>
              <a:rPr dirty="0"/>
              <a:t> to, </a:t>
            </a:r>
            <a:r>
              <a:rPr dirty="0" err="1"/>
              <a:t>čo</a:t>
            </a:r>
            <a:r>
              <a:rPr dirty="0"/>
              <a:t> </a:t>
            </a:r>
            <a:r>
              <a:rPr dirty="0" err="1"/>
              <a:t>schválil</a:t>
            </a:r>
            <a:r>
              <a:rPr dirty="0"/>
              <a:t> </a:t>
            </a:r>
            <a:r>
              <a:rPr dirty="0" err="1"/>
              <a:t>objednávateľ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Slajd</a:t>
            </a:r>
            <a:r>
              <a:rPr dirty="0"/>
              <a:t> 04</a:t>
            </a:r>
          </a:p>
          <a:p>
            <a:r>
              <a:rPr dirty="0"/>
              <a:t>Čas: 2 min (9:05–9:07).</a:t>
            </a:r>
          </a:p>
          <a:p>
            <a:r>
              <a:rPr dirty="0" err="1"/>
              <a:t>Rozlíš</a:t>
            </a:r>
            <a:r>
              <a:rPr dirty="0"/>
              <a:t> tri </a:t>
            </a:r>
            <a:r>
              <a:rPr dirty="0" err="1"/>
              <a:t>vrstvy</a:t>
            </a:r>
            <a:r>
              <a:rPr dirty="0"/>
              <a:t>. </a:t>
            </a:r>
            <a:br>
              <a:rPr lang="sk-SK" dirty="0"/>
            </a:br>
            <a:r>
              <a:rPr b="1" dirty="0" err="1"/>
              <a:t>Miesto</a:t>
            </a:r>
            <a:r>
              <a:rPr b="1" dirty="0"/>
              <a:t> (</a:t>
            </a:r>
            <a:r>
              <a:rPr b="1" dirty="0" err="1"/>
              <a:t>licencia</a:t>
            </a:r>
            <a:r>
              <a:rPr b="1" dirty="0"/>
              <a:t>) </a:t>
            </a:r>
            <a:r>
              <a:rPr dirty="0" err="1"/>
              <a:t>určuje</a:t>
            </a:r>
            <a:r>
              <a:rPr dirty="0"/>
              <a:t>, </a:t>
            </a:r>
            <a:r>
              <a:rPr dirty="0" err="1"/>
              <a:t>aké</a:t>
            </a:r>
            <a:r>
              <a:rPr dirty="0"/>
              <a:t> </a:t>
            </a:r>
            <a:r>
              <a:rPr dirty="0" err="1"/>
              <a:t>funkcie</a:t>
            </a:r>
            <a:r>
              <a:rPr dirty="0"/>
              <a:t> </a:t>
            </a:r>
            <a:r>
              <a:rPr dirty="0" err="1"/>
              <a:t>sú</a:t>
            </a:r>
            <a:r>
              <a:rPr dirty="0"/>
              <a:t> </a:t>
            </a:r>
            <a:r>
              <a:rPr dirty="0" err="1"/>
              <a:t>dostupné</a:t>
            </a:r>
            <a:r>
              <a:rPr dirty="0"/>
              <a:t>. </a:t>
            </a:r>
            <a:br>
              <a:rPr lang="sk-SK" dirty="0"/>
            </a:br>
            <a:r>
              <a:rPr b="1" dirty="0"/>
              <a:t>Rola</a:t>
            </a:r>
            <a:r>
              <a:rPr dirty="0"/>
              <a:t> </a:t>
            </a:r>
            <a:r>
              <a:rPr dirty="0" err="1"/>
              <a:t>určuje</a:t>
            </a:r>
            <a:r>
              <a:rPr dirty="0"/>
              <a:t>, </a:t>
            </a:r>
            <a:r>
              <a:rPr dirty="0" err="1"/>
              <a:t>čo</a:t>
            </a:r>
            <a:r>
              <a:rPr dirty="0"/>
              <a:t> </a:t>
            </a:r>
            <a:r>
              <a:rPr dirty="0" err="1"/>
              <a:t>smie</a:t>
            </a:r>
            <a:r>
              <a:rPr dirty="0"/>
              <a:t> </a:t>
            </a:r>
            <a:r>
              <a:rPr dirty="0" err="1"/>
              <a:t>človek</a:t>
            </a:r>
            <a:r>
              <a:rPr dirty="0"/>
              <a:t> </a:t>
            </a:r>
            <a:r>
              <a:rPr dirty="0" err="1"/>
              <a:t>spravovať</a:t>
            </a:r>
            <a:r>
              <a:rPr dirty="0"/>
              <a:t>. </a:t>
            </a:r>
            <a:br>
              <a:rPr lang="sk-SK" dirty="0"/>
            </a:br>
            <a:r>
              <a:rPr b="1" dirty="0" err="1"/>
              <a:t>Prístup</a:t>
            </a:r>
            <a:r>
              <a:rPr dirty="0"/>
              <a:t> k </a:t>
            </a:r>
            <a:r>
              <a:rPr dirty="0" err="1"/>
              <a:t>obsahu</a:t>
            </a:r>
            <a:r>
              <a:rPr dirty="0"/>
              <a:t> je </a:t>
            </a:r>
            <a:r>
              <a:rPr dirty="0" err="1"/>
              <a:t>vždy</a:t>
            </a:r>
            <a:r>
              <a:rPr dirty="0"/>
              <a:t> </a:t>
            </a:r>
            <a:r>
              <a:rPr dirty="0" err="1"/>
              <a:t>konkrétny</a:t>
            </a:r>
            <a:r>
              <a:rPr dirty="0"/>
              <a:t> – k </a:t>
            </a:r>
            <a:r>
              <a:rPr dirty="0" err="1"/>
              <a:t>projektu</a:t>
            </a:r>
            <a:r>
              <a:rPr dirty="0"/>
              <a:t>, </a:t>
            </a:r>
            <a:r>
              <a:rPr dirty="0" err="1"/>
              <a:t>agentovi</a:t>
            </a:r>
            <a:r>
              <a:rPr dirty="0"/>
              <a:t> </a:t>
            </a:r>
            <a:r>
              <a:rPr dirty="0" err="1"/>
              <a:t>alebo</a:t>
            </a:r>
            <a:r>
              <a:rPr dirty="0"/>
              <a:t> </a:t>
            </a:r>
            <a:r>
              <a:rPr dirty="0" err="1"/>
              <a:t>stránke</a:t>
            </a:r>
            <a:r>
              <a:rPr dirty="0"/>
              <a:t>.</a:t>
            </a:r>
          </a:p>
          <a:p>
            <a:r>
              <a:rPr dirty="0" err="1"/>
              <a:t>Overené</a:t>
            </a:r>
            <a:r>
              <a:rPr dirty="0"/>
              <a:t>: „A role can’t expand the access allowed by a member’s seat.“ (roles-and-workspace-permissions).</a:t>
            </a:r>
          </a:p>
          <a:p>
            <a:r>
              <a:rPr dirty="0" err="1"/>
              <a:t>Overené</a:t>
            </a:r>
            <a:r>
              <a:rPr dirty="0"/>
              <a:t>: </a:t>
            </a:r>
            <a:r>
              <a:rPr dirty="0" err="1"/>
              <a:t>členstvo</a:t>
            </a:r>
            <a:r>
              <a:rPr dirty="0"/>
              <a:t> v </a:t>
            </a:r>
            <a:r>
              <a:rPr dirty="0" err="1"/>
              <a:t>tíme</a:t>
            </a:r>
            <a:r>
              <a:rPr dirty="0"/>
              <a:t> </a:t>
            </a:r>
            <a:r>
              <a:rPr dirty="0" err="1"/>
              <a:t>automaticky</a:t>
            </a:r>
            <a:r>
              <a:rPr dirty="0"/>
              <a:t> </a:t>
            </a:r>
            <a:r>
              <a:rPr dirty="0" err="1"/>
              <a:t>nesprístupní</a:t>
            </a:r>
            <a:r>
              <a:rPr dirty="0"/>
              <a:t> </a:t>
            </a:r>
            <a:r>
              <a:rPr dirty="0" err="1"/>
              <a:t>osobné</a:t>
            </a:r>
            <a:r>
              <a:rPr dirty="0"/>
              <a:t> </a:t>
            </a:r>
            <a:r>
              <a:rPr dirty="0" err="1"/>
              <a:t>čety</a:t>
            </a:r>
            <a:r>
              <a:rPr dirty="0"/>
              <a:t> ani </a:t>
            </a:r>
            <a:r>
              <a:rPr dirty="0" err="1"/>
              <a:t>pripojené</a:t>
            </a:r>
            <a:r>
              <a:rPr dirty="0"/>
              <a:t> </a:t>
            </a:r>
            <a:r>
              <a:rPr dirty="0" err="1"/>
              <a:t>aplikácie</a:t>
            </a:r>
            <a:r>
              <a:rPr dirty="0"/>
              <a:t> (release notes 29. 9. 2026).</a:t>
            </a:r>
          </a:p>
          <a:p>
            <a:r>
              <a:rPr dirty="0" err="1"/>
              <a:t>Otázka</a:t>
            </a:r>
            <a:r>
              <a:rPr dirty="0"/>
              <a:t> pre </a:t>
            </a:r>
            <a:r>
              <a:rPr dirty="0" err="1"/>
              <a:t>účastníkov</a:t>
            </a:r>
            <a:r>
              <a:rPr dirty="0"/>
              <a:t>: „Ak </a:t>
            </a:r>
            <a:r>
              <a:rPr dirty="0" err="1"/>
              <a:t>správca</a:t>
            </a:r>
            <a:r>
              <a:rPr dirty="0"/>
              <a:t> </a:t>
            </a:r>
            <a:r>
              <a:rPr dirty="0" err="1"/>
              <a:t>zapne</a:t>
            </a:r>
            <a:r>
              <a:rPr dirty="0"/>
              <a:t> </a:t>
            </a:r>
            <a:r>
              <a:rPr dirty="0" err="1"/>
              <a:t>novú</a:t>
            </a:r>
            <a:r>
              <a:rPr dirty="0"/>
              <a:t> </a:t>
            </a:r>
            <a:r>
              <a:rPr dirty="0" err="1"/>
              <a:t>funkciu</a:t>
            </a:r>
            <a:r>
              <a:rPr dirty="0"/>
              <a:t>, </a:t>
            </a:r>
            <a:r>
              <a:rPr dirty="0" err="1"/>
              <a:t>máte</a:t>
            </a:r>
            <a:r>
              <a:rPr dirty="0"/>
              <a:t> k </a:t>
            </a:r>
            <a:r>
              <a:rPr dirty="0" err="1"/>
              <a:t>nej</a:t>
            </a:r>
            <a:r>
              <a:rPr dirty="0"/>
              <a:t> </a:t>
            </a:r>
            <a:r>
              <a:rPr dirty="0" err="1"/>
              <a:t>automaticky</a:t>
            </a:r>
            <a:r>
              <a:rPr dirty="0"/>
              <a:t> </a:t>
            </a:r>
            <a:r>
              <a:rPr dirty="0" err="1"/>
              <a:t>prístup</a:t>
            </a:r>
            <a:r>
              <a:rPr dirty="0"/>
              <a:t> </a:t>
            </a:r>
            <a:r>
              <a:rPr dirty="0" err="1"/>
              <a:t>aj</a:t>
            </a:r>
            <a:r>
              <a:rPr dirty="0"/>
              <a:t> k </a:t>
            </a:r>
            <a:r>
              <a:rPr dirty="0" err="1"/>
              <a:t>dokumentom</a:t>
            </a:r>
            <a:r>
              <a:rPr dirty="0"/>
              <a:t> </a:t>
            </a:r>
            <a:r>
              <a:rPr dirty="0" err="1"/>
              <a:t>kolegov</a:t>
            </a:r>
            <a:r>
              <a:rPr dirty="0"/>
              <a:t>?“ </a:t>
            </a:r>
            <a:r>
              <a:rPr dirty="0" err="1"/>
              <a:t>Správna</a:t>
            </a:r>
            <a:r>
              <a:rPr dirty="0"/>
              <a:t> </a:t>
            </a:r>
            <a:r>
              <a:rPr dirty="0" err="1"/>
              <a:t>odpoveď</a:t>
            </a:r>
            <a:r>
              <a:rPr dirty="0"/>
              <a:t>: </a:t>
            </a:r>
            <a:r>
              <a:rPr dirty="0" err="1"/>
              <a:t>nie</a:t>
            </a:r>
            <a:r>
              <a:rPr dirty="0"/>
              <a:t>, </a:t>
            </a:r>
            <a:r>
              <a:rPr dirty="0" err="1"/>
              <a:t>funkcia</a:t>
            </a:r>
            <a:r>
              <a:rPr dirty="0"/>
              <a:t> a </a:t>
            </a:r>
            <a:r>
              <a:rPr dirty="0" err="1"/>
              <a:t>prístup</a:t>
            </a:r>
            <a:r>
              <a:rPr dirty="0"/>
              <a:t> k </a:t>
            </a:r>
            <a:r>
              <a:rPr dirty="0" err="1"/>
              <a:t>obsahu</a:t>
            </a:r>
            <a:r>
              <a:rPr dirty="0"/>
              <a:t> </a:t>
            </a:r>
            <a:r>
              <a:rPr dirty="0" err="1"/>
              <a:t>sú</a:t>
            </a:r>
            <a:r>
              <a:rPr dirty="0"/>
              <a:t> </a:t>
            </a:r>
            <a:r>
              <a:rPr dirty="0" err="1"/>
              <a:t>dve</a:t>
            </a:r>
            <a:r>
              <a:rPr dirty="0"/>
              <a:t> </a:t>
            </a:r>
            <a:r>
              <a:rPr dirty="0" err="1"/>
              <a:t>rôzne</a:t>
            </a:r>
            <a:r>
              <a:rPr dirty="0"/>
              <a:t> </a:t>
            </a:r>
            <a:r>
              <a:rPr dirty="0" err="1"/>
              <a:t>veci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Slajd</a:t>
            </a:r>
            <a:r>
              <a:rPr dirty="0"/>
              <a:t> 05</a:t>
            </a:r>
          </a:p>
          <a:p>
            <a:r>
              <a:rPr dirty="0"/>
              <a:t>Čas: 3 min (9:07–9:10).</a:t>
            </a:r>
          </a:p>
          <a:p>
            <a:r>
              <a:rPr dirty="0"/>
              <a:t>Lektor je Owner, </a:t>
            </a:r>
            <a:r>
              <a:rPr dirty="0" err="1"/>
              <a:t>účastníci</a:t>
            </a:r>
            <a:r>
              <a:rPr dirty="0"/>
              <a:t> </a:t>
            </a:r>
            <a:r>
              <a:rPr dirty="0" err="1"/>
              <a:t>sú</a:t>
            </a:r>
            <a:r>
              <a:rPr dirty="0"/>
              <a:t> Member. </a:t>
            </a:r>
            <a:r>
              <a:rPr dirty="0" err="1"/>
              <a:t>Nastavenia</a:t>
            </a:r>
            <a:r>
              <a:rPr dirty="0"/>
              <a:t> </a:t>
            </a:r>
            <a:r>
              <a:rPr dirty="0" err="1"/>
              <a:t>priestoru</a:t>
            </a:r>
            <a:r>
              <a:rPr dirty="0"/>
              <a:t> </a:t>
            </a:r>
            <a:r>
              <a:rPr dirty="0" err="1"/>
              <a:t>meniť</a:t>
            </a:r>
            <a:r>
              <a:rPr dirty="0"/>
              <a:t> </a:t>
            </a:r>
            <a:r>
              <a:rPr dirty="0" err="1"/>
              <a:t>nebudú</a:t>
            </a:r>
            <a:r>
              <a:rPr dirty="0"/>
              <a:t> a </a:t>
            </a:r>
            <a:r>
              <a:rPr dirty="0" err="1"/>
              <a:t>nepotrebujú</a:t>
            </a:r>
            <a:r>
              <a:rPr dirty="0"/>
              <a:t> to.</a:t>
            </a:r>
          </a:p>
          <a:p>
            <a:r>
              <a:rPr dirty="0" err="1"/>
              <a:t>Overené</a:t>
            </a:r>
            <a:r>
              <a:rPr dirty="0"/>
              <a:t>: Owner </a:t>
            </a:r>
            <a:r>
              <a:rPr dirty="0" err="1"/>
              <a:t>spravuje</a:t>
            </a:r>
            <a:r>
              <a:rPr dirty="0"/>
              <a:t> </a:t>
            </a:r>
            <a:r>
              <a:rPr dirty="0" err="1"/>
              <a:t>nastavenia</a:t>
            </a:r>
            <a:r>
              <a:rPr dirty="0"/>
              <a:t> </a:t>
            </a:r>
            <a:r>
              <a:rPr dirty="0" err="1"/>
              <a:t>priestoru</a:t>
            </a:r>
            <a:r>
              <a:rPr dirty="0"/>
              <a:t>; </a:t>
            </a:r>
            <a:r>
              <a:rPr dirty="0" err="1"/>
              <a:t>vlastné</a:t>
            </a:r>
            <a:r>
              <a:rPr dirty="0"/>
              <a:t> </a:t>
            </a:r>
            <a:r>
              <a:rPr dirty="0" err="1"/>
              <a:t>roly</a:t>
            </a:r>
            <a:r>
              <a:rPr dirty="0"/>
              <a:t> (RBAC) </a:t>
            </a:r>
            <a:r>
              <a:rPr dirty="0" err="1"/>
              <a:t>sú</a:t>
            </a:r>
            <a:r>
              <a:rPr dirty="0"/>
              <a:t> </a:t>
            </a:r>
            <a:r>
              <a:rPr dirty="0" err="1"/>
              <a:t>podľa</a:t>
            </a:r>
            <a:r>
              <a:rPr dirty="0"/>
              <a:t> </a:t>
            </a:r>
            <a:r>
              <a:rPr dirty="0" err="1"/>
              <a:t>cenníka</a:t>
            </a:r>
            <a:r>
              <a:rPr dirty="0"/>
              <a:t> </a:t>
            </a:r>
            <a:r>
              <a:rPr dirty="0" err="1"/>
              <a:t>iba</a:t>
            </a:r>
            <a:r>
              <a:rPr dirty="0"/>
              <a:t> v Enterprise/Edu. Admin </a:t>
            </a:r>
            <a:r>
              <a:rPr dirty="0" err="1"/>
              <a:t>spravuje</a:t>
            </a:r>
            <a:r>
              <a:rPr dirty="0"/>
              <a:t> „</a:t>
            </a:r>
            <a:r>
              <a:rPr dirty="0" err="1"/>
              <a:t>podporované</a:t>
            </a:r>
            <a:r>
              <a:rPr dirty="0"/>
              <a:t> </a:t>
            </a:r>
            <a:r>
              <a:rPr dirty="0" err="1"/>
              <a:t>operácie</a:t>
            </a:r>
            <a:r>
              <a:rPr dirty="0"/>
              <a:t> a </a:t>
            </a:r>
            <a:r>
              <a:rPr dirty="0" err="1"/>
              <a:t>skupiny</a:t>
            </a:r>
            <a:r>
              <a:rPr dirty="0"/>
              <a:t>“ – </a:t>
            </a:r>
            <a:r>
              <a:rPr dirty="0" err="1"/>
              <a:t>presný</a:t>
            </a:r>
            <a:r>
              <a:rPr dirty="0"/>
              <a:t> </a:t>
            </a:r>
            <a:r>
              <a:rPr dirty="0" err="1"/>
              <a:t>zoznam</a:t>
            </a:r>
            <a:r>
              <a:rPr dirty="0"/>
              <a:t> </a:t>
            </a:r>
            <a:r>
              <a:rPr dirty="0" err="1"/>
              <a:t>dokumentácia</a:t>
            </a:r>
            <a:r>
              <a:rPr dirty="0"/>
              <a:t> </a:t>
            </a:r>
            <a:r>
              <a:rPr dirty="0" err="1"/>
              <a:t>neuvádza</a:t>
            </a:r>
            <a:r>
              <a:rPr dirty="0"/>
              <a:t>. Member </a:t>
            </a:r>
            <a:r>
              <a:rPr dirty="0" err="1"/>
              <a:t>nemá</a:t>
            </a:r>
            <a:r>
              <a:rPr dirty="0"/>
              <a:t> </a:t>
            </a:r>
            <a:r>
              <a:rPr dirty="0" err="1"/>
              <a:t>administrátorské</a:t>
            </a:r>
            <a:r>
              <a:rPr dirty="0"/>
              <a:t> </a:t>
            </a:r>
            <a:r>
              <a:rPr dirty="0" err="1"/>
              <a:t>práva</a:t>
            </a:r>
            <a:r>
              <a:rPr dirty="0"/>
              <a:t>.</a:t>
            </a:r>
          </a:p>
          <a:p>
            <a:r>
              <a:rPr dirty="0" err="1"/>
              <a:t>Overené</a:t>
            </a:r>
            <a:r>
              <a:rPr dirty="0"/>
              <a:t>: </a:t>
            </a:r>
            <a:r>
              <a:rPr dirty="0" err="1"/>
              <a:t>prepínače</a:t>
            </a:r>
            <a:r>
              <a:rPr dirty="0"/>
              <a:t> v Workspace settings &gt; Permissions &amp; Roles </a:t>
            </a:r>
            <a:r>
              <a:rPr dirty="0" err="1"/>
              <a:t>môžu</a:t>
            </a:r>
            <a:r>
              <a:rPr dirty="0"/>
              <a:t> </a:t>
            </a:r>
            <a:r>
              <a:rPr dirty="0" err="1"/>
              <a:t>používať</a:t>
            </a:r>
            <a:r>
              <a:rPr dirty="0"/>
              <a:t> Admin </a:t>
            </a:r>
            <a:r>
              <a:rPr dirty="0" err="1"/>
              <a:t>aj</a:t>
            </a:r>
            <a:r>
              <a:rPr dirty="0"/>
              <a:t> Owner (release notes 11. 6. 2026). </a:t>
            </a:r>
            <a:r>
              <a:rPr dirty="0" err="1"/>
              <a:t>Doplnky</a:t>
            </a:r>
            <a:r>
              <a:rPr dirty="0"/>
              <a:t> </a:t>
            </a:r>
            <a:r>
              <a:rPr dirty="0" err="1"/>
              <a:t>môžu</a:t>
            </a:r>
            <a:r>
              <a:rPr dirty="0"/>
              <a:t> v Admin console </a:t>
            </a:r>
            <a:r>
              <a:rPr dirty="0" err="1"/>
              <a:t>spravovať</a:t>
            </a:r>
            <a:r>
              <a:rPr dirty="0"/>
              <a:t> Owner </a:t>
            </a:r>
            <a:r>
              <a:rPr dirty="0" err="1"/>
              <a:t>aj</a:t>
            </a:r>
            <a:r>
              <a:rPr dirty="0"/>
              <a:t> Admin (release notes 1. 10. 2026).</a:t>
            </a:r>
          </a:p>
          <a:p>
            <a:r>
              <a:rPr dirty="0" err="1"/>
              <a:t>Neoverené</a:t>
            </a:r>
            <a:r>
              <a:rPr dirty="0"/>
              <a:t> a </a:t>
            </a:r>
            <a:r>
              <a:rPr dirty="0" err="1"/>
              <a:t>nesľubuj</a:t>
            </a:r>
            <a:r>
              <a:rPr dirty="0"/>
              <a:t>: </a:t>
            </a:r>
            <a:r>
              <a:rPr dirty="0" err="1"/>
              <a:t>či</a:t>
            </a:r>
            <a:r>
              <a:rPr dirty="0"/>
              <a:t> a </a:t>
            </a:r>
            <a:r>
              <a:rPr dirty="0" err="1"/>
              <a:t>ako</a:t>
            </a:r>
            <a:r>
              <a:rPr dirty="0"/>
              <a:t> </a:t>
            </a:r>
            <a:r>
              <a:rPr dirty="0" err="1"/>
              <a:t>správca</a:t>
            </a:r>
            <a:r>
              <a:rPr dirty="0"/>
              <a:t> v Business </a:t>
            </a:r>
            <a:r>
              <a:rPr dirty="0" err="1"/>
              <a:t>vidí</a:t>
            </a:r>
            <a:r>
              <a:rPr dirty="0"/>
              <a:t> </a:t>
            </a:r>
            <a:r>
              <a:rPr dirty="0" err="1"/>
              <a:t>obsah</a:t>
            </a:r>
            <a:r>
              <a:rPr dirty="0"/>
              <a:t> </a:t>
            </a:r>
            <a:r>
              <a:rPr dirty="0" err="1"/>
              <a:t>četov</a:t>
            </a:r>
            <a:r>
              <a:rPr dirty="0"/>
              <a:t> a </a:t>
            </a:r>
            <a:r>
              <a:rPr dirty="0" err="1"/>
              <a:t>projektov</a:t>
            </a:r>
            <a:r>
              <a:rPr dirty="0"/>
              <a:t> </a:t>
            </a:r>
            <a:r>
              <a:rPr dirty="0" err="1"/>
              <a:t>členov</a:t>
            </a:r>
            <a:r>
              <a:rPr dirty="0"/>
              <a:t>. </a:t>
            </a:r>
            <a:r>
              <a:rPr dirty="0" err="1"/>
              <a:t>Povedz</a:t>
            </a:r>
            <a:r>
              <a:rPr dirty="0"/>
              <a:t> </a:t>
            </a:r>
            <a:r>
              <a:rPr dirty="0" err="1"/>
              <a:t>otvorene</a:t>
            </a:r>
            <a:r>
              <a:rPr dirty="0"/>
              <a:t>, </a:t>
            </a:r>
            <a:r>
              <a:rPr dirty="0" err="1"/>
              <a:t>že</a:t>
            </a:r>
            <a:r>
              <a:rPr dirty="0"/>
              <a:t> </a:t>
            </a:r>
            <a:r>
              <a:rPr dirty="0" err="1"/>
              <a:t>právo</a:t>
            </a:r>
            <a:r>
              <a:rPr dirty="0"/>
              <a:t> </a:t>
            </a:r>
            <a:r>
              <a:rPr dirty="0" err="1"/>
              <a:t>spravovať</a:t>
            </a:r>
            <a:r>
              <a:rPr dirty="0"/>
              <a:t> </a:t>
            </a:r>
            <a:r>
              <a:rPr dirty="0" err="1"/>
              <a:t>priestor</a:t>
            </a:r>
            <a:r>
              <a:rPr dirty="0"/>
              <a:t> a </a:t>
            </a:r>
            <a:r>
              <a:rPr dirty="0" err="1"/>
              <a:t>prístup</a:t>
            </a:r>
            <a:r>
              <a:rPr dirty="0"/>
              <a:t> k </a:t>
            </a:r>
            <a:r>
              <a:rPr dirty="0" err="1"/>
              <a:t>obsahu</a:t>
            </a:r>
            <a:r>
              <a:rPr dirty="0"/>
              <a:t> </a:t>
            </a:r>
            <a:r>
              <a:rPr dirty="0" err="1"/>
              <a:t>kolegov</a:t>
            </a:r>
            <a:r>
              <a:rPr dirty="0"/>
              <a:t> </a:t>
            </a:r>
            <a:r>
              <a:rPr dirty="0" err="1"/>
              <a:t>sú</a:t>
            </a:r>
            <a:r>
              <a:rPr dirty="0"/>
              <a:t> </a:t>
            </a:r>
            <a:r>
              <a:rPr dirty="0" err="1"/>
              <a:t>dve</a:t>
            </a:r>
            <a:r>
              <a:rPr dirty="0"/>
              <a:t> </a:t>
            </a:r>
            <a:r>
              <a:rPr dirty="0" err="1"/>
              <a:t>rôzne</a:t>
            </a:r>
            <a:r>
              <a:rPr dirty="0"/>
              <a:t> </a:t>
            </a:r>
            <a:r>
              <a:rPr dirty="0" err="1"/>
              <a:t>oprávnenia</a:t>
            </a:r>
            <a:r>
              <a:rPr dirty="0"/>
              <a:t>. </a:t>
            </a:r>
            <a:r>
              <a:rPr dirty="0" err="1"/>
              <a:t>Čo</a:t>
            </a:r>
            <a:r>
              <a:rPr dirty="0"/>
              <a:t> </a:t>
            </a:r>
            <a:r>
              <a:rPr dirty="0" err="1"/>
              <a:t>smie</a:t>
            </a:r>
            <a:r>
              <a:rPr dirty="0"/>
              <a:t> </a:t>
            </a:r>
            <a:r>
              <a:rPr dirty="0" err="1"/>
              <a:t>správca</a:t>
            </a:r>
            <a:r>
              <a:rPr dirty="0"/>
              <a:t> </a:t>
            </a:r>
            <a:r>
              <a:rPr dirty="0" err="1"/>
              <a:t>vidieť</a:t>
            </a:r>
            <a:r>
              <a:rPr dirty="0"/>
              <a:t>, </a:t>
            </a:r>
            <a:r>
              <a:rPr dirty="0" err="1"/>
              <a:t>má</a:t>
            </a:r>
            <a:r>
              <a:rPr dirty="0"/>
              <a:t> </a:t>
            </a:r>
            <a:r>
              <a:rPr dirty="0" err="1"/>
              <a:t>upraviť</a:t>
            </a:r>
            <a:r>
              <a:rPr dirty="0"/>
              <a:t> </a:t>
            </a:r>
            <a:r>
              <a:rPr dirty="0" err="1"/>
              <a:t>interné</a:t>
            </a:r>
            <a:r>
              <a:rPr dirty="0"/>
              <a:t> </a:t>
            </a:r>
            <a:r>
              <a:rPr dirty="0" err="1"/>
              <a:t>pravidlo</a:t>
            </a:r>
            <a:r>
              <a:rPr dirty="0"/>
              <a:t> </a:t>
            </a:r>
            <a:r>
              <a:rPr dirty="0" err="1"/>
              <a:t>firmy</a:t>
            </a:r>
            <a:r>
              <a:rPr dirty="0"/>
              <a:t>.</a:t>
            </a:r>
          </a:p>
          <a:p>
            <a:r>
              <a:rPr dirty="0"/>
              <a:t>Ak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niekto</a:t>
            </a:r>
            <a:r>
              <a:rPr dirty="0"/>
              <a:t> </a:t>
            </a:r>
            <a:r>
              <a:rPr dirty="0" err="1"/>
              <a:t>pýta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cenu</a:t>
            </a:r>
            <a:r>
              <a:rPr dirty="0"/>
              <a:t>: 25 USD za </a:t>
            </a:r>
            <a:r>
              <a:rPr dirty="0" err="1"/>
              <a:t>miesto</a:t>
            </a:r>
            <a:r>
              <a:rPr dirty="0"/>
              <a:t> </a:t>
            </a:r>
            <a:r>
              <a:rPr dirty="0" err="1"/>
              <a:t>mesačne</a:t>
            </a:r>
            <a:r>
              <a:rPr dirty="0"/>
              <a:t> </a:t>
            </a:r>
            <a:r>
              <a:rPr dirty="0" err="1"/>
              <a:t>pri</a:t>
            </a:r>
            <a:r>
              <a:rPr dirty="0"/>
              <a:t> </a:t>
            </a:r>
            <a:r>
              <a:rPr dirty="0" err="1"/>
              <a:t>mesačnej</a:t>
            </a:r>
            <a:r>
              <a:rPr dirty="0"/>
              <a:t> </a:t>
            </a:r>
            <a:r>
              <a:rPr dirty="0" err="1"/>
              <a:t>fakturácii</a:t>
            </a:r>
            <a:r>
              <a:rPr dirty="0"/>
              <a:t>, 20 USD </a:t>
            </a:r>
            <a:r>
              <a:rPr dirty="0" err="1"/>
              <a:t>pri</a:t>
            </a:r>
            <a:r>
              <a:rPr dirty="0"/>
              <a:t> </a:t>
            </a:r>
            <a:r>
              <a:rPr dirty="0" err="1"/>
              <a:t>ročnej</a:t>
            </a:r>
            <a:r>
              <a:rPr dirty="0"/>
              <a:t> (</a:t>
            </a:r>
            <a:r>
              <a:rPr dirty="0" err="1"/>
              <a:t>cenník</a:t>
            </a:r>
            <a:r>
              <a:rPr dirty="0"/>
              <a:t>, </a:t>
            </a:r>
            <a:r>
              <a:rPr dirty="0" err="1"/>
              <a:t>overené</a:t>
            </a:r>
            <a:r>
              <a:rPr dirty="0"/>
              <a:t> 10. 10.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Slajd 06</a:t>
            </a:r>
          </a:p>
          <a:p>
            <a:r>
              <a:t>Čas: 3 min (9:10–9:13). ŽIVÁ UKÁŽKA 1 – orientácia.</a:t>
            </a:r>
          </a:p>
          <a:p>
            <a:r>
              <a:t>Scenár (pracuj v prehliadači, rovnako ako účastníci):</a:t>
            </a:r>
          </a:p>
          <a:p>
            <a:r>
              <a:t>1. Otvor chatgpt.com, ukáž názov priestoru vľavo dole.</a:t>
            </a:r>
          </a:p>
          <a:p>
            <a:r>
              <a:t>2. Klikni na „Nový čet“. Ukáž výber režimu a modelu v hornej časti. Konkrétne modely nečítaj z pamäti, ukáž to, čo je v priestore v deň workshopu.</a:t>
            </a:r>
          </a:p>
          <a:p>
            <a:r>
              <a:t>3. Ukáž vyhľadávanie v histórii (lupa v hornej časti panela).</a:t>
            </a:r>
          </a:p>
          <a:p>
            <a:r>
              <a:t>4. Klikni na „Projekty“. Zatiaľ len ukáž, kde sú. Projekt založíme o pár minút.</a:t>
            </a:r>
          </a:p>
          <a:p>
            <a:r>
              <a:t>5. Klikni na „Doplnky“ a ukáž karty Verejné, BHR Biznis DEMO a Osobné.</a:t>
            </a:r>
          </a:p>
          <a:p>
            <a:r>
              <a:t>6. V časti Prispôsobiť ukáž „Schopnosti“.</a:t>
            </a:r>
          </a:p>
          <a:p>
            <a:r>
              <a:t>Položky „Weby“, „Mapy“, „Codex“ a „Knižnica“ len spomeň. Na workshope ich nepotrebujeme.</a:t>
            </a:r>
          </a:p>
          <a:p>
            <a:r>
              <a:t>Účastníci súčasne klikajú s tebou. Ak niekto nevidí rovnaké položky, zapíš si to – môže ísť o rozdiel v nastavení alebo verzii rozhrania.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Slajd 07</a:t>
            </a:r>
          </a:p>
          <a:p>
            <a:r>
              <a:t>Čas: 2 min (9:13–9:15).</a:t>
            </a:r>
          </a:p>
          <a:p>
            <a:r>
              <a:t>Overené (use-chatgpt): na webe beží ChatGPT Work v spravovanom cloudovom prostredí. Lokálna práca s priečinkami je len v desktopovej aplikácii, ak je povolená pre účet alebo priestor. Hlas, rozšírenie prehliadača a ovládanie počítača sú v desktopovej aplikácii, ak sú dostupné. Úloha v cloude môže pokračovať aj po zatvorení aplikácie.</a:t>
            </a:r>
          </a:p>
          <a:p>
            <a:r>
              <a:t>Odporúčanie pre workshop: všetci pracujú na webe, aby sme mali rovnaké prostredie a jednoduchšie riešili problémy.</a:t>
            </a:r>
          </a:p>
          <a:p>
            <a:r>
              <a:t>Doplnok „Meetings (Beta)“ v zozname doplnkov má ikonu notebooku – pravdepodobne je viazaný na desktop. Neoverené, nesľubuj 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Slajd 08</a:t>
            </a:r>
          </a:p>
          <a:p>
            <a:r>
              <a:t>Čas: 2 min (9:15–9:17).</a:t>
            </a:r>
          </a:p>
          <a:p>
            <a:r>
              <a:t>Každý riadok zodpovedá jednej z tém p. Grobarčíka. Nech si účastníci v duchu priradia, ktorý riadok je ich.</a:t>
            </a:r>
          </a:p>
          <a:p>
            <a:r>
              <a:t>Ďalšie funkcie (overené v use-chatgpt, dostupnosť v priestore over v deň workshopu): tvorba a úprava obrázkov, vyhľadávanie na webe, plánované úlohy, hotové súbory (dokumenty, tabuľky, prezentácie, PDF). Hlas iba v desktopovej aplikácii na podporovaných plánoch.</a:t>
            </a:r>
          </a:p>
          <a:p>
            <a:r>
              <a:t>Príklad plánovanej úlohy: každý pondelok o 7:00 zhrň zmeny v plánovacej tabuľke. Iba ukážka, na workshope ju nestaviame.</a:t>
            </a:r>
          </a:p>
          <a:p>
            <a:r>
              <a:t>Upozorni: „Hľadať v PDF“ funguje dobre iba vtedy, ak je PDF textové. Naskenované normy bez textovej vrstvy dávajú horšie výsledky.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Slajd 09</a:t>
            </a:r>
          </a:p>
          <a:p>
            <a:r>
              <a:t>Čas: 2 min (9:17–9:19).</a:t>
            </a:r>
          </a:p>
          <a:p>
            <a:r>
              <a:t>Príklad: ChatGPT navrhne pripomienky k zmluve o dielo – to je návrh. Ak by cez doplnok poslal e-mail zákazníkovi, je to akcia v externom systéme.</a:t>
            </a:r>
          </a:p>
          <a:p>
            <a:r>
              <a:t>Overené: pri agentoch v priestore majú zápisové akcie predvolene nastavené „Always ask“ (help článok o agentoch). Zápisové akcie pre aplikácie Microsoft a Google sú predvolene vypnuté, kým ich nezapne správca (release notes 13. 3. 2026).</a:t>
            </a:r>
          </a:p>
          <a:p>
            <a:r>
              <a:t>Prepojenie na tému z e-mailu objednávateľa: „automatická kontrola“ a „automatické napĺňanie“ na workshope znamenajú, že ChatGPT pripraví návrh a človek ho skontroluje. Plná automatizácia je ďalšia etapa po overení postupu.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Slajd 10</a:t>
            </a:r>
          </a:p>
          <a:p>
            <a:r>
              <a:t>Čas: 3 min (9:19–9:22).</a:t>
            </a:r>
          </a:p>
          <a:p>
            <a:r>
              <a:t>Režim je spôsob práce (Čet na otázky a úpravy, Work na väčšiu úlohu s výstupom). Model je „mozog“, ktorý úlohu rieši. Nástroj je schopnosť, ktorú model pri úlohe použije (web, práca so súbormi, tvorba dokumentu).</a:t>
            </a:r>
          </a:p>
          <a:p>
            <a:r>
              <a:t>Overené (use-chatgpt): Čet slúži na otázky, návrhy a úpravy textu, zhrnutie súborov a porovnanie možností. Work je určený na väčšiu úlohu, ktorá končí výstupom na kontrolu (dokument, prezentácia, analýza).</a:t>
            </a:r>
          </a:p>
          <a:p>
            <a:r>
              <a:t>Konkrétne názvy modelov a limity neuvádzaj. Ukáž výber modelu v priestore v deň workshopu.</a:t>
            </a:r>
          </a:p>
          <a:p>
            <a:r>
              <a:t>Jednoduché pravidlo pre účastníkov: začnite v projekte s predvoleným nastavením. Výkonnejší model skúste až vtedy, keď výsledok nestačí.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Slajd 11</a:t>
            </a:r>
          </a:p>
          <a:p>
            <a:r>
              <a:t>Čas: 3 min (9:22–9:25).</a:t>
            </a:r>
          </a:p>
          <a:p>
            <a:r>
              <a:t>Kedy projekt: keď sa úloha opakuje, pracuje s rovnakými podkladmi a má mať rovnaké pravidlá (napr. technické správy pre malé projekty, kontrola zmlúv podľa štandardu).</a:t>
            </a:r>
          </a:p>
          <a:p>
            <a:r>
              <a:t>Overené: projekty spájajú rozhovory, súbory a inštrukcie k jednej téme (use-chatgpt). Zdroje projektu môžu pochádzať aj z aplikácií, četov alebo vloženého textu (release notes 25. 2. 2026).</a:t>
            </a:r>
          </a:p>
          <a:p>
            <a:r>
              <a:t>Samostatné rozhovory: technická správa v jednom, zápis z porady v druhom. Model sa tak neplietie medzi výstupmi.</a:t>
            </a:r>
          </a:p>
          <a:p>
            <a:r>
              <a:t>Pamäť: či projekt využíva pamäť z iných rozhovorov, závisí od nastavenia. Over si v priestore a nesľubuj to.</a:t>
            </a:r>
          </a:p>
          <a:p>
            <a:r>
              <a:t>Zdieľanie projektu a limity počtu súborov over v priestore pred workshopom. Dokumentácia projektov ich k 10. 10. 2026 neuvádza.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Slajd</a:t>
            </a:r>
            <a:r>
              <a:rPr dirty="0"/>
              <a:t> 12</a:t>
            </a:r>
          </a:p>
          <a:p>
            <a:r>
              <a:rPr dirty="0"/>
              <a:t>Čas: 4 min (9:25–9:29). ŽIVÁ UKÁŽKA 2 – </a:t>
            </a:r>
            <a:r>
              <a:rPr dirty="0" err="1"/>
              <a:t>projekt</a:t>
            </a:r>
            <a:r>
              <a:rPr dirty="0"/>
              <a:t>.</a:t>
            </a:r>
          </a:p>
          <a:p>
            <a:r>
              <a:rPr dirty="0" err="1"/>
              <a:t>Podklad</a:t>
            </a:r>
            <a:r>
              <a:rPr dirty="0"/>
              <a:t>: Modelova_zakazka_zadanie.docx (</a:t>
            </a:r>
            <a:r>
              <a:rPr dirty="0" err="1"/>
              <a:t>modelový</a:t>
            </a:r>
            <a:r>
              <a:rPr dirty="0"/>
              <a:t>, </a:t>
            </a:r>
            <a:r>
              <a:rPr dirty="0" err="1"/>
              <a:t>fiktívny</a:t>
            </a:r>
            <a:r>
              <a:rPr dirty="0"/>
              <a:t>).</a:t>
            </a:r>
          </a:p>
          <a:p>
            <a:r>
              <a:rPr dirty="0"/>
              <a:t>1. </a:t>
            </a:r>
            <a:r>
              <a:rPr dirty="0" err="1"/>
              <a:t>Projekty</a:t>
            </a:r>
            <a:r>
              <a:rPr dirty="0"/>
              <a:t> &gt; </a:t>
            </a:r>
            <a:r>
              <a:rPr dirty="0" err="1"/>
              <a:t>nový</a:t>
            </a:r>
            <a:r>
              <a:rPr dirty="0"/>
              <a:t> </a:t>
            </a:r>
            <a:r>
              <a:rPr dirty="0" err="1"/>
              <a:t>projekt</a:t>
            </a:r>
            <a:r>
              <a:rPr dirty="0"/>
              <a:t>, </a:t>
            </a:r>
            <a:r>
              <a:rPr dirty="0" err="1"/>
              <a:t>názov</a:t>
            </a:r>
            <a:r>
              <a:rPr dirty="0"/>
              <a:t> „</a:t>
            </a:r>
            <a:r>
              <a:rPr dirty="0" err="1"/>
              <a:t>Modelová</a:t>
            </a:r>
            <a:r>
              <a:rPr dirty="0"/>
              <a:t> </a:t>
            </a:r>
            <a:r>
              <a:rPr dirty="0" err="1"/>
              <a:t>zákazka</a:t>
            </a:r>
            <a:r>
              <a:rPr dirty="0"/>
              <a:t> – </a:t>
            </a:r>
            <a:r>
              <a:rPr dirty="0" err="1"/>
              <a:t>skladová</a:t>
            </a:r>
            <a:r>
              <a:rPr dirty="0"/>
              <a:t> </a:t>
            </a:r>
            <a:r>
              <a:rPr dirty="0" err="1"/>
              <a:t>hala</a:t>
            </a:r>
            <a:r>
              <a:rPr dirty="0"/>
              <a:t>“.</a:t>
            </a:r>
          </a:p>
          <a:p>
            <a:r>
              <a:rPr dirty="0"/>
              <a:t>2. Do </a:t>
            </a:r>
            <a:r>
              <a:rPr dirty="0" err="1"/>
              <a:t>inštrukcií</a:t>
            </a:r>
            <a:r>
              <a:rPr dirty="0"/>
              <a:t> </a:t>
            </a:r>
            <a:r>
              <a:rPr dirty="0" err="1"/>
              <a:t>projektu</a:t>
            </a:r>
            <a:r>
              <a:rPr dirty="0"/>
              <a:t> </a:t>
            </a:r>
            <a:r>
              <a:rPr dirty="0" err="1"/>
              <a:t>vlož</a:t>
            </a:r>
            <a:r>
              <a:rPr dirty="0"/>
              <a:t>:</a:t>
            </a:r>
          </a:p>
          <a:p>
            <a:r>
              <a:rPr dirty="0"/>
              <a:t>„Si </a:t>
            </a:r>
            <a:r>
              <a:rPr dirty="0" err="1"/>
              <a:t>asistent</a:t>
            </a:r>
            <a:r>
              <a:rPr dirty="0"/>
              <a:t> </a:t>
            </a:r>
            <a:r>
              <a:rPr dirty="0" err="1"/>
              <a:t>projektanta</a:t>
            </a:r>
            <a:r>
              <a:rPr dirty="0"/>
              <a:t> </a:t>
            </a:r>
            <a:r>
              <a:rPr dirty="0" err="1"/>
              <a:t>stabilných</a:t>
            </a:r>
            <a:r>
              <a:rPr dirty="0"/>
              <a:t> </a:t>
            </a:r>
            <a:r>
              <a:rPr dirty="0" err="1"/>
              <a:t>hasiacich</a:t>
            </a:r>
            <a:r>
              <a:rPr dirty="0"/>
              <a:t> </a:t>
            </a:r>
            <a:r>
              <a:rPr dirty="0" err="1"/>
              <a:t>zariadení</a:t>
            </a:r>
            <a:r>
              <a:rPr dirty="0"/>
              <a:t>. </a:t>
            </a:r>
            <a:r>
              <a:rPr dirty="0" err="1"/>
              <a:t>Pracuješ</a:t>
            </a:r>
            <a:r>
              <a:rPr dirty="0"/>
              <a:t> </a:t>
            </a:r>
            <a:r>
              <a:rPr dirty="0" err="1"/>
              <a:t>iba</a:t>
            </a:r>
            <a:r>
              <a:rPr dirty="0"/>
              <a:t> s </a:t>
            </a:r>
            <a:r>
              <a:rPr dirty="0" err="1"/>
              <a:t>podkladmi</a:t>
            </a:r>
            <a:r>
              <a:rPr dirty="0"/>
              <a:t> v </a:t>
            </a:r>
            <a:r>
              <a:rPr dirty="0" err="1"/>
              <a:t>tomto</a:t>
            </a:r>
            <a:r>
              <a:rPr dirty="0"/>
              <a:t> </a:t>
            </a:r>
            <a:r>
              <a:rPr dirty="0" err="1"/>
              <a:t>projekte</a:t>
            </a:r>
            <a:r>
              <a:rPr dirty="0"/>
              <a:t>. Pri </a:t>
            </a:r>
            <a:r>
              <a:rPr dirty="0" err="1"/>
              <a:t>každom</a:t>
            </a:r>
            <a:r>
              <a:rPr dirty="0"/>
              <a:t> </a:t>
            </a:r>
            <a:r>
              <a:rPr dirty="0" err="1"/>
              <a:t>údaji</a:t>
            </a:r>
            <a:r>
              <a:rPr dirty="0"/>
              <a:t> </a:t>
            </a:r>
            <a:r>
              <a:rPr dirty="0" err="1"/>
              <a:t>uveď</a:t>
            </a:r>
            <a:r>
              <a:rPr dirty="0"/>
              <a:t> </a:t>
            </a:r>
            <a:r>
              <a:rPr dirty="0" err="1"/>
              <a:t>názov</a:t>
            </a:r>
            <a:r>
              <a:rPr dirty="0"/>
              <a:t> </a:t>
            </a:r>
            <a:r>
              <a:rPr dirty="0" err="1"/>
              <a:t>súboru</a:t>
            </a:r>
            <a:r>
              <a:rPr dirty="0"/>
              <a:t> a </a:t>
            </a:r>
            <a:r>
              <a:rPr dirty="0" err="1"/>
              <a:t>časť</a:t>
            </a:r>
            <a:r>
              <a:rPr dirty="0"/>
              <a:t>, z </a:t>
            </a:r>
            <a:r>
              <a:rPr dirty="0" err="1"/>
              <a:t>ktorej</a:t>
            </a:r>
            <a:r>
              <a:rPr dirty="0"/>
              <a:t> </a:t>
            </a:r>
            <a:r>
              <a:rPr dirty="0" err="1"/>
              <a:t>vychádzaš</a:t>
            </a:r>
            <a:r>
              <a:rPr dirty="0"/>
              <a:t>. Ak </a:t>
            </a:r>
            <a:r>
              <a:rPr dirty="0" err="1"/>
              <a:t>údaj</a:t>
            </a:r>
            <a:r>
              <a:rPr dirty="0"/>
              <a:t> v </a:t>
            </a:r>
            <a:r>
              <a:rPr dirty="0" err="1"/>
              <a:t>podkladoch</a:t>
            </a:r>
            <a:r>
              <a:rPr dirty="0"/>
              <a:t> </a:t>
            </a:r>
            <a:r>
              <a:rPr dirty="0" err="1"/>
              <a:t>chýba</a:t>
            </a:r>
            <a:r>
              <a:rPr dirty="0"/>
              <a:t>, </a:t>
            </a:r>
            <a:r>
              <a:rPr dirty="0" err="1"/>
              <a:t>napíš</a:t>
            </a:r>
            <a:r>
              <a:rPr dirty="0"/>
              <a:t> „</a:t>
            </a:r>
            <a:r>
              <a:rPr dirty="0" err="1"/>
              <a:t>chýba</a:t>
            </a:r>
            <a:r>
              <a:rPr dirty="0"/>
              <a:t> v </a:t>
            </a:r>
            <a:r>
              <a:rPr dirty="0" err="1"/>
              <a:t>podkladoch</a:t>
            </a:r>
            <a:r>
              <a:rPr dirty="0"/>
              <a:t>“ a </a:t>
            </a:r>
            <a:r>
              <a:rPr dirty="0" err="1"/>
              <a:t>nedopĺňaj</a:t>
            </a:r>
            <a:r>
              <a:rPr dirty="0"/>
              <a:t> ho. </a:t>
            </a:r>
            <a:r>
              <a:rPr dirty="0" err="1"/>
              <a:t>Technické</a:t>
            </a:r>
            <a:r>
              <a:rPr dirty="0"/>
              <a:t> </a:t>
            </a:r>
            <a:r>
              <a:rPr dirty="0" err="1"/>
              <a:t>parametre</a:t>
            </a:r>
            <a:r>
              <a:rPr dirty="0"/>
              <a:t> ani </a:t>
            </a:r>
            <a:r>
              <a:rPr dirty="0" err="1"/>
              <a:t>normové</a:t>
            </a:r>
            <a:r>
              <a:rPr dirty="0"/>
              <a:t> </a:t>
            </a:r>
            <a:r>
              <a:rPr dirty="0" err="1"/>
              <a:t>hodnoty</a:t>
            </a:r>
            <a:r>
              <a:rPr dirty="0"/>
              <a:t> </a:t>
            </a:r>
            <a:r>
              <a:rPr dirty="0" err="1"/>
              <a:t>nevymýšľaj</a:t>
            </a:r>
            <a:r>
              <a:rPr dirty="0"/>
              <a:t>. </a:t>
            </a:r>
            <a:r>
              <a:rPr dirty="0" err="1"/>
              <a:t>Odpovedaj</a:t>
            </a:r>
            <a:r>
              <a:rPr dirty="0"/>
              <a:t> po </a:t>
            </a:r>
            <a:r>
              <a:rPr dirty="0" err="1"/>
              <a:t>slovensky</a:t>
            </a:r>
            <a:r>
              <a:rPr dirty="0"/>
              <a:t>, </a:t>
            </a:r>
            <a:r>
              <a:rPr dirty="0" err="1"/>
              <a:t>stručne</a:t>
            </a:r>
            <a:r>
              <a:rPr dirty="0"/>
              <a:t>, v </a:t>
            </a:r>
            <a:r>
              <a:rPr dirty="0" err="1"/>
              <a:t>odrážkach</a:t>
            </a:r>
            <a:r>
              <a:rPr dirty="0"/>
              <a:t>.“</a:t>
            </a:r>
          </a:p>
          <a:p>
            <a:r>
              <a:rPr dirty="0"/>
              <a:t>3. </a:t>
            </a:r>
            <a:r>
              <a:rPr dirty="0" err="1"/>
              <a:t>Nahraj</a:t>
            </a:r>
            <a:r>
              <a:rPr dirty="0"/>
              <a:t> </a:t>
            </a:r>
            <a:r>
              <a:rPr dirty="0" err="1"/>
              <a:t>súbor</a:t>
            </a:r>
            <a:r>
              <a:rPr dirty="0"/>
              <a:t> Modelova_zakazka_zadanie.docx do </a:t>
            </a:r>
            <a:r>
              <a:rPr dirty="0" err="1"/>
              <a:t>zdrojov</a:t>
            </a:r>
            <a:r>
              <a:rPr dirty="0"/>
              <a:t> </a:t>
            </a:r>
            <a:r>
              <a:rPr dirty="0" err="1"/>
              <a:t>projektu</a:t>
            </a:r>
            <a:r>
              <a:rPr dirty="0"/>
              <a:t>.</a:t>
            </a:r>
          </a:p>
          <a:p>
            <a:r>
              <a:rPr dirty="0"/>
              <a:t>4. V </a:t>
            </a:r>
            <a:r>
              <a:rPr dirty="0" err="1"/>
              <a:t>novom</a:t>
            </a:r>
            <a:r>
              <a:rPr dirty="0"/>
              <a:t> </a:t>
            </a:r>
            <a:r>
              <a:rPr dirty="0" err="1"/>
              <a:t>rozhovore</a:t>
            </a:r>
            <a:r>
              <a:rPr dirty="0"/>
              <a:t> </a:t>
            </a:r>
            <a:r>
              <a:rPr dirty="0" err="1"/>
              <a:t>zadaj</a:t>
            </a:r>
            <a:r>
              <a:rPr dirty="0"/>
              <a:t>:</a:t>
            </a:r>
          </a:p>
          <a:p>
            <a:r>
              <a:rPr dirty="0"/>
              <a:t>„</a:t>
            </a:r>
            <a:r>
              <a:rPr dirty="0" err="1"/>
              <a:t>Zhrň</a:t>
            </a:r>
            <a:r>
              <a:rPr dirty="0"/>
              <a:t> </a:t>
            </a:r>
            <a:r>
              <a:rPr dirty="0" err="1"/>
              <a:t>zadanie</a:t>
            </a:r>
            <a:r>
              <a:rPr dirty="0"/>
              <a:t> </a:t>
            </a:r>
            <a:r>
              <a:rPr dirty="0" err="1"/>
              <a:t>zákazky</a:t>
            </a:r>
            <a:r>
              <a:rPr dirty="0"/>
              <a:t> do </a:t>
            </a:r>
            <a:r>
              <a:rPr dirty="0" err="1"/>
              <a:t>šiestich</a:t>
            </a:r>
            <a:r>
              <a:rPr dirty="0"/>
              <a:t> </a:t>
            </a:r>
            <a:r>
              <a:rPr dirty="0" err="1"/>
              <a:t>bodov</a:t>
            </a:r>
            <a:r>
              <a:rPr dirty="0"/>
              <a:t> a </a:t>
            </a:r>
            <a:r>
              <a:rPr dirty="0" err="1"/>
              <a:t>vypíš</a:t>
            </a:r>
            <a:r>
              <a:rPr dirty="0"/>
              <a:t>, </a:t>
            </a:r>
            <a:r>
              <a:rPr dirty="0" err="1"/>
              <a:t>ktoré</a:t>
            </a:r>
            <a:r>
              <a:rPr dirty="0"/>
              <a:t> </a:t>
            </a:r>
            <a:r>
              <a:rPr dirty="0" err="1"/>
              <a:t>údaje</a:t>
            </a:r>
            <a:r>
              <a:rPr dirty="0"/>
              <a:t> </a:t>
            </a:r>
            <a:r>
              <a:rPr dirty="0" err="1"/>
              <a:t>potrebné</a:t>
            </a:r>
            <a:r>
              <a:rPr dirty="0"/>
              <a:t> pre </a:t>
            </a:r>
            <a:r>
              <a:rPr dirty="0" err="1"/>
              <a:t>technickú</a:t>
            </a:r>
            <a:r>
              <a:rPr dirty="0"/>
              <a:t> </a:t>
            </a:r>
            <a:r>
              <a:rPr dirty="0" err="1"/>
              <a:t>správu</a:t>
            </a:r>
            <a:r>
              <a:rPr dirty="0"/>
              <a:t> </a:t>
            </a:r>
            <a:r>
              <a:rPr dirty="0" err="1"/>
              <a:t>chýbajú</a:t>
            </a:r>
            <a:r>
              <a:rPr dirty="0"/>
              <a:t>.“</a:t>
            </a:r>
          </a:p>
          <a:p>
            <a:r>
              <a:rPr dirty="0" err="1"/>
              <a:t>Čo</a:t>
            </a:r>
            <a:r>
              <a:rPr dirty="0"/>
              <a:t> </a:t>
            </a:r>
            <a:r>
              <a:rPr dirty="0" err="1"/>
              <a:t>má</a:t>
            </a:r>
            <a:r>
              <a:rPr dirty="0"/>
              <a:t> model </a:t>
            </a:r>
            <a:r>
              <a:rPr dirty="0" err="1"/>
              <a:t>nájsť</a:t>
            </a:r>
            <a:r>
              <a:rPr dirty="0"/>
              <a:t>: </a:t>
            </a:r>
            <a:r>
              <a:rPr dirty="0" err="1"/>
              <a:t>druh</a:t>
            </a:r>
            <a:r>
              <a:rPr dirty="0"/>
              <a:t> </a:t>
            </a:r>
            <a:r>
              <a:rPr dirty="0" err="1"/>
              <a:t>skladovaného</a:t>
            </a:r>
            <a:r>
              <a:rPr dirty="0"/>
              <a:t> </a:t>
            </a:r>
            <a:r>
              <a:rPr dirty="0" err="1"/>
              <a:t>tovaru</a:t>
            </a:r>
            <a:r>
              <a:rPr dirty="0"/>
              <a:t> </a:t>
            </a:r>
            <a:r>
              <a:rPr dirty="0" err="1"/>
              <a:t>nie</a:t>
            </a:r>
            <a:r>
              <a:rPr dirty="0"/>
              <a:t> je </a:t>
            </a:r>
            <a:r>
              <a:rPr dirty="0" err="1"/>
              <a:t>určený</a:t>
            </a:r>
            <a:r>
              <a:rPr dirty="0"/>
              <a:t>, </a:t>
            </a:r>
            <a:r>
              <a:rPr dirty="0" err="1"/>
              <a:t>kapacita</a:t>
            </a:r>
            <a:r>
              <a:rPr dirty="0"/>
              <a:t> </a:t>
            </a:r>
            <a:r>
              <a:rPr dirty="0" err="1"/>
              <a:t>zdroja</a:t>
            </a:r>
            <a:r>
              <a:rPr dirty="0"/>
              <a:t> </a:t>
            </a:r>
            <a:r>
              <a:rPr dirty="0" err="1"/>
              <a:t>vody</a:t>
            </a:r>
            <a:r>
              <a:rPr dirty="0"/>
              <a:t> </a:t>
            </a:r>
            <a:r>
              <a:rPr dirty="0" err="1"/>
              <a:t>nie</a:t>
            </a:r>
            <a:r>
              <a:rPr dirty="0"/>
              <a:t> je </a:t>
            </a:r>
            <a:r>
              <a:rPr dirty="0" err="1"/>
              <a:t>overená</a:t>
            </a:r>
            <a:r>
              <a:rPr dirty="0"/>
              <a:t>, </a:t>
            </a:r>
            <a:r>
              <a:rPr dirty="0" err="1"/>
              <a:t>chýba</a:t>
            </a:r>
            <a:r>
              <a:rPr dirty="0"/>
              <a:t> </a:t>
            </a:r>
            <a:r>
              <a:rPr dirty="0" err="1"/>
              <a:t>požiadavka</a:t>
            </a:r>
            <a:r>
              <a:rPr dirty="0"/>
              <a:t> </a:t>
            </a:r>
            <a:r>
              <a:rPr dirty="0" err="1"/>
              <a:t>poisťovne</a:t>
            </a:r>
            <a:r>
              <a:rPr dirty="0"/>
              <a:t>, je </a:t>
            </a:r>
            <a:r>
              <a:rPr dirty="0" err="1"/>
              <a:t>uvedená</a:t>
            </a:r>
            <a:r>
              <a:rPr dirty="0"/>
              <a:t> </a:t>
            </a:r>
            <a:r>
              <a:rPr dirty="0" err="1"/>
              <a:t>svetlá</a:t>
            </a:r>
            <a:r>
              <a:rPr dirty="0"/>
              <a:t> </a:t>
            </a:r>
            <a:r>
              <a:rPr dirty="0" err="1"/>
              <a:t>výška</a:t>
            </a:r>
            <a:r>
              <a:rPr dirty="0"/>
              <a:t> </a:t>
            </a:r>
            <a:r>
              <a:rPr dirty="0" err="1"/>
              <a:t>haly</a:t>
            </a:r>
            <a:r>
              <a:rPr dirty="0"/>
              <a:t>, </a:t>
            </a:r>
            <a:r>
              <a:rPr dirty="0" err="1"/>
              <a:t>výška</a:t>
            </a:r>
            <a:r>
              <a:rPr dirty="0"/>
              <a:t> </a:t>
            </a:r>
            <a:r>
              <a:rPr dirty="0" err="1"/>
              <a:t>skladovania</a:t>
            </a:r>
            <a:r>
              <a:rPr dirty="0"/>
              <a:t> je </a:t>
            </a:r>
            <a:r>
              <a:rPr dirty="0" err="1"/>
              <a:t>iba</a:t>
            </a:r>
            <a:r>
              <a:rPr dirty="0"/>
              <a:t> </a:t>
            </a:r>
            <a:r>
              <a:rPr dirty="0" err="1"/>
              <a:t>orientačná</a:t>
            </a:r>
            <a:r>
              <a:rPr dirty="0"/>
              <a:t>.</a:t>
            </a:r>
          </a:p>
          <a:p>
            <a:r>
              <a:rPr dirty="0"/>
              <a:t>Na </a:t>
            </a:r>
            <a:r>
              <a:rPr dirty="0" err="1"/>
              <a:t>čo</a:t>
            </a:r>
            <a:r>
              <a:rPr dirty="0"/>
              <a:t> </a:t>
            </a:r>
            <a:r>
              <a:rPr dirty="0" err="1"/>
              <a:t>upozorniť</a:t>
            </a:r>
            <a:r>
              <a:rPr dirty="0"/>
              <a:t>: </a:t>
            </a:r>
            <a:r>
              <a:rPr dirty="0" err="1"/>
              <a:t>ak</a:t>
            </a:r>
            <a:r>
              <a:rPr dirty="0"/>
              <a:t> model </a:t>
            </a:r>
            <a:r>
              <a:rPr dirty="0" err="1"/>
              <a:t>doplní</a:t>
            </a:r>
            <a:r>
              <a:rPr dirty="0"/>
              <a:t> </a:t>
            </a:r>
            <a:r>
              <a:rPr dirty="0" err="1"/>
              <a:t>akúkoľvek</a:t>
            </a:r>
            <a:r>
              <a:rPr dirty="0"/>
              <a:t> </a:t>
            </a:r>
            <a:r>
              <a:rPr dirty="0" err="1"/>
              <a:t>hodnotu</a:t>
            </a:r>
            <a:r>
              <a:rPr dirty="0"/>
              <a:t>, </a:t>
            </a:r>
            <a:r>
              <a:rPr dirty="0" err="1"/>
              <a:t>ktorá</a:t>
            </a:r>
            <a:r>
              <a:rPr dirty="0"/>
              <a:t> v </a:t>
            </a:r>
            <a:r>
              <a:rPr dirty="0" err="1"/>
              <a:t>zadaní</a:t>
            </a:r>
            <a:r>
              <a:rPr dirty="0"/>
              <a:t> </a:t>
            </a:r>
            <a:r>
              <a:rPr dirty="0" err="1"/>
              <a:t>nie</a:t>
            </a:r>
            <a:r>
              <a:rPr dirty="0"/>
              <a:t> je, </a:t>
            </a:r>
            <a:r>
              <a:rPr dirty="0" err="1"/>
              <a:t>ukáž</a:t>
            </a:r>
            <a:r>
              <a:rPr dirty="0"/>
              <a:t> to </a:t>
            </a:r>
            <a:r>
              <a:rPr dirty="0" err="1"/>
              <a:t>ako</a:t>
            </a:r>
            <a:r>
              <a:rPr dirty="0"/>
              <a:t> </a:t>
            </a:r>
            <a:r>
              <a:rPr dirty="0" err="1"/>
              <a:t>príklad</a:t>
            </a:r>
            <a:r>
              <a:rPr dirty="0"/>
              <a:t>, </a:t>
            </a:r>
            <a:r>
              <a:rPr dirty="0" err="1"/>
              <a:t>prečo</a:t>
            </a:r>
            <a:r>
              <a:rPr dirty="0"/>
              <a:t> je </a:t>
            </a:r>
            <a:r>
              <a:rPr dirty="0" err="1"/>
              <a:t>kontrola</a:t>
            </a:r>
            <a:r>
              <a:rPr dirty="0"/>
              <a:t> </a:t>
            </a:r>
            <a:r>
              <a:rPr dirty="0" err="1"/>
              <a:t>nevyhnutná</a:t>
            </a:r>
            <a:r>
              <a:rPr dirty="0"/>
              <a:t>. </a:t>
            </a:r>
            <a:r>
              <a:rPr dirty="0" err="1"/>
              <a:t>Výsledok</a:t>
            </a:r>
            <a:r>
              <a:rPr dirty="0"/>
              <a:t> </a:t>
            </a:r>
            <a:r>
              <a:rPr dirty="0" err="1"/>
              <a:t>ukážky</a:t>
            </a:r>
            <a:r>
              <a:rPr dirty="0"/>
              <a:t> </a:t>
            </a:r>
            <a:r>
              <a:rPr dirty="0" err="1"/>
              <a:t>vopred</a:t>
            </a:r>
            <a:r>
              <a:rPr dirty="0"/>
              <a:t> </a:t>
            </a:r>
            <a:r>
              <a:rPr dirty="0" err="1"/>
              <a:t>nesľubuj</a:t>
            </a:r>
            <a:r>
              <a:rPr dirty="0"/>
              <a:t>, </a:t>
            </a:r>
            <a:r>
              <a:rPr dirty="0" err="1"/>
              <a:t>môže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líšiť</a:t>
            </a:r>
            <a:r>
              <a:rPr dirty="0"/>
              <a:t>.</a:t>
            </a:r>
          </a:p>
          <a:p>
            <a:r>
              <a:rPr dirty="0" err="1"/>
              <a:t>Záloha</a:t>
            </a:r>
            <a:r>
              <a:rPr dirty="0"/>
              <a:t>: </a:t>
            </a:r>
            <a:r>
              <a:rPr dirty="0" err="1"/>
              <a:t>ak</a:t>
            </a:r>
            <a:r>
              <a:rPr dirty="0"/>
              <a:t> </a:t>
            </a:r>
            <a:r>
              <a:rPr dirty="0" err="1"/>
              <a:t>nahrávanie</a:t>
            </a:r>
            <a:r>
              <a:rPr dirty="0"/>
              <a:t> </a:t>
            </a:r>
            <a:r>
              <a:rPr dirty="0" err="1"/>
              <a:t>nefunguje</a:t>
            </a:r>
            <a:r>
              <a:rPr dirty="0"/>
              <a:t>, </a:t>
            </a:r>
            <a:r>
              <a:rPr dirty="0" err="1"/>
              <a:t>vlož</a:t>
            </a:r>
            <a:r>
              <a:rPr dirty="0"/>
              <a:t> </a:t>
            </a:r>
            <a:r>
              <a:rPr dirty="0" err="1"/>
              <a:t>obsah</a:t>
            </a:r>
            <a:r>
              <a:rPr dirty="0"/>
              <a:t> </a:t>
            </a:r>
            <a:r>
              <a:rPr dirty="0" err="1"/>
              <a:t>súboru</a:t>
            </a:r>
            <a:r>
              <a:rPr dirty="0"/>
              <a:t> </a:t>
            </a:r>
            <a:r>
              <a:rPr dirty="0" err="1"/>
              <a:t>priamo</a:t>
            </a:r>
            <a:r>
              <a:rPr dirty="0"/>
              <a:t> do </a:t>
            </a:r>
            <a:r>
              <a:rPr dirty="0" err="1"/>
              <a:t>rozhovoru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Slajd 13</a:t>
            </a:r>
          </a:p>
          <a:p>
            <a:r>
              <a:t>Čas: 3 min (9:29–9:32).</a:t>
            </a:r>
          </a:p>
          <a:p>
            <a:r>
              <a:t>Na jednej úlohe vysvetli rozdiel. Čet je jednorazový. Projekt usporiada kontext (inštrukcie, podklady, rozhovory). Agent v priestore je nastavený postup, ktorý môže bežať podľa plánu a pracovať s pripojenými aplikáciami. Schopnosť (Skill) sú v rozhraní „Pokyny, ktoré rozširujú možnosti ChatGPT“ – opakovateľný postup.</a:t>
            </a:r>
          </a:p>
          <a:p>
            <a:r>
              <a:t>Overené: release notes 11. 9. 2026 – „We're planning to retire custom GPTs across ChatGPT plans and provide a migration path to plugins“. Dátum ukončenia nie je uvedený.</a:t>
            </a:r>
          </a:p>
          <a:p>
            <a:r>
              <a:t>Vlastné GPT nie je programovanie agenta cez API. Na workshope nič neprogramujeme a nepoužívame platené externé nástroje.</a:t>
            </a:r>
          </a:p>
          <a:p>
            <a:r>
              <a:t>Na workshope stavia každý projekt. Kto bude v utorok hotový skôr, môže z projektu spraviť agenta (ak bude povolená tvorba agentov).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Slajd 14</a:t>
            </a:r>
          </a:p>
          <a:p>
            <a:r>
              <a:t>Čas: 2 min (9:32–9:34).</a:t>
            </a:r>
          </a:p>
          <a:p>
            <a:r>
              <a:t>Ukáž stránku „Agenti“ (chatgpt.com/agents): šablóny, tlačidlo „Vytvoriť“, karty Nedávno použití, Mnou vytvorení, Adresár BHR Biznis DEMO (overené zo snímky).</a:t>
            </a:r>
          </a:p>
          <a:p>
            <a:r>
              <a:t>Overené (help článok): agent sa dá vytvoriť zo šablóny alebo v nástroji na tvorbu, pred zverejnením sa dá vyskúšať, môže mať pripojené aplikácie a nástroje. Spúšťa sa podľa plánu. Zdieľanie: „Private to me“, odkaz pre organizáciu alebo zverejnenie v adresári. Oprávnenia „Can chat“ a „Can edit“. Súbory agenta: max. 512 MB na súbor a 10 GB spolu.</a:t>
            </a:r>
          </a:p>
          <a:p>
            <a:r>
              <a:t>Overené: tvorbu agentov pre členov zapína správca prepínačom „Enable agent building“.</a:t>
            </a:r>
          </a:p>
          <a:p>
            <a:r>
              <a:t>Behy agentov sa od 6. 7. 2026 účtujú podľa spotreby tokenov (release notes). Pri plánovaných agentoch myslite na spotrebu.</a:t>
            </a:r>
          </a:p>
          <a:p>
            <a:r>
              <a:t>Pred workshopom: v priestore zapni tvorbu agentov pre členov.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Slajd</a:t>
            </a:r>
            <a:r>
              <a:rPr dirty="0"/>
              <a:t> 15</a:t>
            </a:r>
          </a:p>
          <a:p>
            <a:r>
              <a:rPr dirty="0"/>
              <a:t>Čas: 2 min (9:34–9:36).</a:t>
            </a:r>
          </a:p>
          <a:p>
            <a:r>
              <a:rPr dirty="0" err="1"/>
              <a:t>Ukáž</a:t>
            </a:r>
            <a:r>
              <a:rPr dirty="0"/>
              <a:t> </a:t>
            </a:r>
            <a:r>
              <a:rPr dirty="0" err="1"/>
              <a:t>stránku</a:t>
            </a:r>
            <a:r>
              <a:rPr dirty="0"/>
              <a:t> </a:t>
            </a:r>
            <a:r>
              <a:rPr dirty="0" err="1"/>
              <a:t>Doplnky</a:t>
            </a:r>
            <a:r>
              <a:rPr dirty="0"/>
              <a:t> a </a:t>
            </a:r>
            <a:r>
              <a:rPr dirty="0" err="1"/>
              <a:t>karty</a:t>
            </a:r>
            <a:r>
              <a:rPr dirty="0"/>
              <a:t> </a:t>
            </a:r>
            <a:r>
              <a:rPr dirty="0" err="1"/>
              <a:t>Verejné</a:t>
            </a:r>
            <a:r>
              <a:rPr dirty="0"/>
              <a:t>, BHR </a:t>
            </a:r>
            <a:r>
              <a:rPr dirty="0" err="1"/>
              <a:t>Biznis</a:t>
            </a:r>
            <a:r>
              <a:rPr dirty="0"/>
              <a:t> DEMO, </a:t>
            </a:r>
            <a:r>
              <a:rPr dirty="0" err="1"/>
              <a:t>Osobné</a:t>
            </a:r>
            <a:r>
              <a:rPr dirty="0"/>
              <a:t> (</a:t>
            </a:r>
            <a:r>
              <a:rPr dirty="0" err="1"/>
              <a:t>overené</a:t>
            </a:r>
            <a:r>
              <a:rPr dirty="0"/>
              <a:t> zo </a:t>
            </a:r>
            <a:r>
              <a:rPr dirty="0" err="1"/>
              <a:t>snímky</a:t>
            </a:r>
            <a:r>
              <a:rPr dirty="0"/>
              <a:t>).</a:t>
            </a:r>
          </a:p>
          <a:p>
            <a:r>
              <a:rPr dirty="0" err="1"/>
              <a:t>Overené</a:t>
            </a:r>
            <a:r>
              <a:rPr dirty="0"/>
              <a:t> (apps-and-connectors): </a:t>
            </a:r>
            <a:r>
              <a:rPr dirty="0" err="1"/>
              <a:t>sprístupnenie</a:t>
            </a:r>
            <a:r>
              <a:rPr dirty="0"/>
              <a:t> </a:t>
            </a:r>
            <a:r>
              <a:rPr dirty="0" err="1"/>
              <a:t>doplnku</a:t>
            </a:r>
            <a:r>
              <a:rPr dirty="0"/>
              <a:t> </a:t>
            </a:r>
            <a:r>
              <a:rPr dirty="0" err="1"/>
              <a:t>či</a:t>
            </a:r>
            <a:r>
              <a:rPr dirty="0"/>
              <a:t> </a:t>
            </a:r>
            <a:r>
              <a:rPr dirty="0" err="1"/>
              <a:t>servera</a:t>
            </a:r>
            <a:r>
              <a:rPr dirty="0"/>
              <a:t> MCP </a:t>
            </a:r>
            <a:r>
              <a:rPr dirty="0" err="1"/>
              <a:t>samo</a:t>
            </a:r>
            <a:r>
              <a:rPr dirty="0"/>
              <a:t> </a:t>
            </a:r>
            <a:r>
              <a:rPr dirty="0" err="1"/>
              <a:t>osebe</a:t>
            </a:r>
            <a:r>
              <a:rPr dirty="0"/>
              <a:t> </a:t>
            </a:r>
            <a:r>
              <a:rPr dirty="0" err="1"/>
              <a:t>nedáva</a:t>
            </a:r>
            <a:r>
              <a:rPr dirty="0"/>
              <a:t> </a:t>
            </a:r>
            <a:r>
              <a:rPr dirty="0" err="1"/>
              <a:t>prístup</a:t>
            </a:r>
            <a:r>
              <a:rPr dirty="0"/>
              <a:t> k </a:t>
            </a:r>
            <a:r>
              <a:rPr dirty="0" err="1"/>
              <a:t>súborom</a:t>
            </a:r>
            <a:r>
              <a:rPr dirty="0"/>
              <a:t>, </a:t>
            </a:r>
            <a:r>
              <a:rPr dirty="0" err="1"/>
              <a:t>záznamom</a:t>
            </a:r>
            <a:r>
              <a:rPr dirty="0"/>
              <a:t> ani </a:t>
            </a:r>
            <a:r>
              <a:rPr dirty="0" err="1"/>
              <a:t>akciám</a:t>
            </a:r>
            <a:r>
              <a:rPr dirty="0"/>
              <a:t>. </a:t>
            </a:r>
            <a:r>
              <a:rPr dirty="0" err="1"/>
              <a:t>Člen</a:t>
            </a:r>
            <a:r>
              <a:rPr dirty="0"/>
              <a:t> ich </a:t>
            </a:r>
            <a:r>
              <a:rPr dirty="0" err="1"/>
              <a:t>môže</a:t>
            </a:r>
            <a:r>
              <a:rPr dirty="0"/>
              <a:t> </a:t>
            </a:r>
            <a:r>
              <a:rPr dirty="0" err="1"/>
              <a:t>použiť</a:t>
            </a:r>
            <a:r>
              <a:rPr dirty="0"/>
              <a:t>, </a:t>
            </a:r>
            <a:r>
              <a:rPr dirty="0" err="1"/>
              <a:t>iba</a:t>
            </a:r>
            <a:r>
              <a:rPr dirty="0"/>
              <a:t> </a:t>
            </a:r>
            <a:r>
              <a:rPr dirty="0" err="1"/>
              <a:t>ak</a:t>
            </a:r>
            <a:r>
              <a:rPr dirty="0"/>
              <a:t> </a:t>
            </a:r>
            <a:r>
              <a:rPr dirty="0" err="1"/>
              <a:t>sú</a:t>
            </a:r>
            <a:r>
              <a:rPr dirty="0"/>
              <a:t> </a:t>
            </a:r>
            <a:r>
              <a:rPr dirty="0" err="1"/>
              <a:t>dostupné</a:t>
            </a:r>
            <a:r>
              <a:rPr dirty="0"/>
              <a:t> pre </a:t>
            </a:r>
            <a:r>
              <a:rPr dirty="0" err="1"/>
              <a:t>jeho</a:t>
            </a:r>
            <a:r>
              <a:rPr dirty="0"/>
              <a:t> </a:t>
            </a:r>
            <a:r>
              <a:rPr dirty="0" err="1"/>
              <a:t>rolu</a:t>
            </a:r>
            <a:r>
              <a:rPr dirty="0"/>
              <a:t> a </a:t>
            </a:r>
            <a:r>
              <a:rPr dirty="0" err="1"/>
              <a:t>jeho</a:t>
            </a:r>
            <a:r>
              <a:rPr dirty="0"/>
              <a:t> </a:t>
            </a:r>
            <a:r>
              <a:rPr dirty="0" err="1"/>
              <a:t>účet</a:t>
            </a:r>
            <a:r>
              <a:rPr dirty="0"/>
              <a:t> </a:t>
            </a:r>
            <a:r>
              <a:rPr dirty="0" err="1"/>
              <a:t>má</a:t>
            </a:r>
            <a:r>
              <a:rPr dirty="0"/>
              <a:t> </a:t>
            </a:r>
            <a:r>
              <a:rPr dirty="0" err="1"/>
              <a:t>prístup</a:t>
            </a:r>
            <a:r>
              <a:rPr dirty="0"/>
              <a:t> k </a:t>
            </a:r>
            <a:r>
              <a:rPr dirty="0" err="1"/>
              <a:t>pripojenej</a:t>
            </a:r>
            <a:r>
              <a:rPr dirty="0"/>
              <a:t> </a:t>
            </a:r>
            <a:r>
              <a:rPr dirty="0" err="1"/>
              <a:t>službe</a:t>
            </a:r>
            <a:r>
              <a:rPr dirty="0"/>
              <a:t>.</a:t>
            </a:r>
          </a:p>
          <a:p>
            <a:r>
              <a:rPr dirty="0"/>
              <a:t>Teams: @ChatGPT je od 29. 9. 2026 </a:t>
            </a:r>
            <a:r>
              <a:rPr dirty="0" err="1"/>
              <a:t>dostupný</a:t>
            </a:r>
            <a:r>
              <a:rPr dirty="0"/>
              <a:t> pre Business v </a:t>
            </a:r>
            <a:r>
              <a:rPr dirty="0" err="1"/>
              <a:t>Slacku</a:t>
            </a:r>
            <a:r>
              <a:rPr dirty="0"/>
              <a:t> </a:t>
            </a:r>
            <a:r>
              <a:rPr dirty="0" err="1"/>
              <a:t>aj</a:t>
            </a:r>
            <a:r>
              <a:rPr dirty="0"/>
              <a:t> v Microsoft Teams, </a:t>
            </a:r>
            <a:r>
              <a:rPr dirty="0" err="1"/>
              <a:t>inštaluje</a:t>
            </a:r>
            <a:r>
              <a:rPr dirty="0"/>
              <a:t> ho </a:t>
            </a:r>
            <a:r>
              <a:rPr dirty="0" err="1"/>
              <a:t>správca</a:t>
            </a:r>
            <a:r>
              <a:rPr dirty="0"/>
              <a:t>. </a:t>
            </a:r>
            <a:r>
              <a:rPr dirty="0" err="1"/>
              <a:t>Aplikácie</a:t>
            </a:r>
            <a:r>
              <a:rPr dirty="0"/>
              <a:t> Microsoft (Teams, Outlook, SharePoint) </a:t>
            </a:r>
            <a:r>
              <a:rPr dirty="0" err="1"/>
              <a:t>vyžadujú</a:t>
            </a:r>
            <a:r>
              <a:rPr dirty="0"/>
              <a:t> </a:t>
            </a:r>
            <a:r>
              <a:rPr dirty="0" err="1"/>
              <a:t>súhlas</a:t>
            </a:r>
            <a:r>
              <a:rPr dirty="0"/>
              <a:t> </a:t>
            </a:r>
            <a:r>
              <a:rPr dirty="0" err="1"/>
              <a:t>správcu</a:t>
            </a:r>
            <a:r>
              <a:rPr dirty="0"/>
              <a:t> Microsoft Entra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strane</a:t>
            </a:r>
            <a:r>
              <a:rPr dirty="0"/>
              <a:t> </a:t>
            </a:r>
            <a:r>
              <a:rPr dirty="0" err="1"/>
              <a:t>firmy</a:t>
            </a:r>
            <a:r>
              <a:rPr dirty="0"/>
              <a:t> (release notes 11. 3. 2026). V </a:t>
            </a:r>
            <a:r>
              <a:rPr dirty="0" err="1"/>
              <a:t>dočasnom</a:t>
            </a:r>
            <a:r>
              <a:rPr dirty="0"/>
              <a:t> </a:t>
            </a:r>
            <a:r>
              <a:rPr dirty="0" err="1"/>
              <a:t>priestore</a:t>
            </a:r>
            <a:r>
              <a:rPr dirty="0"/>
              <a:t> </a:t>
            </a:r>
            <a:r>
              <a:rPr dirty="0" err="1"/>
              <a:t>lektora</a:t>
            </a:r>
            <a:r>
              <a:rPr dirty="0"/>
              <a:t> </a:t>
            </a:r>
            <a:r>
              <a:rPr dirty="0" err="1"/>
              <a:t>preto</a:t>
            </a:r>
            <a:r>
              <a:rPr dirty="0"/>
              <a:t> </a:t>
            </a:r>
            <a:r>
              <a:rPr dirty="0" err="1"/>
              <a:t>napojenie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Teams </a:t>
            </a:r>
            <a:r>
              <a:rPr dirty="0" err="1"/>
              <a:t>Altenovy</a:t>
            </a:r>
            <a:r>
              <a:rPr dirty="0"/>
              <a:t> </a:t>
            </a:r>
            <a:r>
              <a:rPr dirty="0" err="1"/>
              <a:t>neskúšame</a:t>
            </a:r>
            <a:r>
              <a:rPr dirty="0"/>
              <a:t>. </a:t>
            </a:r>
            <a:r>
              <a:rPr dirty="0" err="1"/>
              <a:t>Zápisy</a:t>
            </a:r>
            <a:r>
              <a:rPr dirty="0"/>
              <a:t> </a:t>
            </a:r>
            <a:r>
              <a:rPr dirty="0" err="1"/>
              <a:t>robíme</a:t>
            </a:r>
            <a:r>
              <a:rPr dirty="0"/>
              <a:t> z </a:t>
            </a:r>
            <a:r>
              <a:rPr dirty="0" err="1"/>
              <a:t>prepisu</a:t>
            </a:r>
            <a:r>
              <a:rPr dirty="0"/>
              <a:t> </a:t>
            </a:r>
            <a:r>
              <a:rPr dirty="0" err="1"/>
              <a:t>alebo</a:t>
            </a:r>
            <a:r>
              <a:rPr dirty="0"/>
              <a:t> </a:t>
            </a:r>
            <a:r>
              <a:rPr dirty="0" err="1"/>
              <a:t>poznámok</a:t>
            </a:r>
            <a:r>
              <a:rPr dirty="0"/>
              <a:t>.</a:t>
            </a:r>
          </a:p>
          <a:p>
            <a:r>
              <a:rPr dirty="0" err="1"/>
              <a:t>Upozorni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rozdiel</a:t>
            </a:r>
            <a:r>
              <a:rPr dirty="0"/>
              <a:t>: </a:t>
            </a:r>
            <a:r>
              <a:rPr dirty="0" err="1"/>
              <a:t>Doplnky</a:t>
            </a:r>
            <a:r>
              <a:rPr dirty="0"/>
              <a:t> v </a:t>
            </a:r>
            <a:r>
              <a:rPr dirty="0" err="1"/>
              <a:t>priestore</a:t>
            </a:r>
            <a:r>
              <a:rPr dirty="0"/>
              <a:t> </a:t>
            </a:r>
            <a:r>
              <a:rPr dirty="0" err="1"/>
              <a:t>nahrádzajú</a:t>
            </a:r>
            <a:r>
              <a:rPr dirty="0"/>
              <a:t> </a:t>
            </a:r>
            <a:r>
              <a:rPr dirty="0" err="1"/>
              <a:t>bývalý</a:t>
            </a:r>
            <a:r>
              <a:rPr dirty="0"/>
              <a:t> </a:t>
            </a:r>
            <a:r>
              <a:rPr dirty="0" err="1"/>
              <a:t>adresár</a:t>
            </a:r>
            <a:r>
              <a:rPr dirty="0"/>
              <a:t> </a:t>
            </a:r>
            <a:r>
              <a:rPr dirty="0" err="1"/>
              <a:t>aplikácií</a:t>
            </a:r>
            <a:r>
              <a:rPr dirty="0"/>
              <a:t> (release notes 9. 7.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Slajd 16</a:t>
            </a:r>
          </a:p>
          <a:p>
            <a:r>
              <a:t>Čas: 2 min (9:36–9:38).</a:t>
            </a:r>
          </a:p>
          <a:p>
            <a:r>
              <a:t>Ukáž dialóg „Zdieľať“ pri agentovi alebo stránke. Overené pri agentoch: súkromne, odkaz pre organizáciu, adresár priestoru; oprávnenia „Can chat“ a „Can edit“.</a:t>
            </a:r>
          </a:p>
          <a:p>
            <a:r>
              <a:t>Overené: od 29. 9. 2026 sa v Business dajú vytvoriť tímy a zdieľať s nimi stránky (Pages) a celé priestory (Spaces).</a:t>
            </a:r>
          </a:p>
          <a:p>
            <a:r>
              <a:t>Zdieľanie projektov over v priestore pred workshopom – ak sa nedá zdieľať, v utorok pri teste kolegom kolega pracuje na notebooku autora.</a:t>
            </a:r>
          </a:p>
          <a:p>
            <a:r>
              <a:t>Otázka pre účastníkov: „Čo by sa stalo, keby ste projekt s pripomienkami k zmluve zdieľali odkazom s celým priestorom?“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Slajd</a:t>
            </a:r>
            <a:r>
              <a:rPr dirty="0"/>
              <a:t> 17</a:t>
            </a:r>
          </a:p>
          <a:p>
            <a:r>
              <a:rPr dirty="0"/>
              <a:t>Čas: 2 min (9:38–9:40).</a:t>
            </a:r>
          </a:p>
          <a:p>
            <a:r>
              <a:rPr dirty="0" err="1"/>
              <a:t>Overené</a:t>
            </a:r>
            <a:r>
              <a:rPr dirty="0"/>
              <a:t> (</a:t>
            </a:r>
            <a:r>
              <a:rPr dirty="0" err="1"/>
              <a:t>cenník</a:t>
            </a:r>
            <a:r>
              <a:rPr dirty="0"/>
              <a:t>): „No training on your business data by default.“ Business </a:t>
            </a:r>
            <a:r>
              <a:rPr dirty="0" err="1"/>
              <a:t>má</a:t>
            </a:r>
            <a:r>
              <a:rPr dirty="0"/>
              <a:t> </a:t>
            </a:r>
            <a:r>
              <a:rPr dirty="0" err="1"/>
              <a:t>vyhradený</a:t>
            </a:r>
            <a:r>
              <a:rPr dirty="0"/>
              <a:t> </a:t>
            </a:r>
            <a:r>
              <a:rPr dirty="0" err="1"/>
              <a:t>priestor</a:t>
            </a:r>
            <a:r>
              <a:rPr dirty="0"/>
              <a:t> so </a:t>
            </a:r>
            <a:r>
              <a:rPr dirty="0" err="1"/>
              <a:t>základnou</a:t>
            </a:r>
            <a:r>
              <a:rPr dirty="0"/>
              <a:t> </a:t>
            </a:r>
            <a:r>
              <a:rPr dirty="0" err="1"/>
              <a:t>správou</a:t>
            </a:r>
            <a:r>
              <a:rPr dirty="0"/>
              <a:t>, SAML SSO a MFA.</a:t>
            </a:r>
          </a:p>
          <a:p>
            <a:r>
              <a:rPr dirty="0" err="1"/>
              <a:t>Ochrana</a:t>
            </a:r>
            <a:r>
              <a:rPr dirty="0"/>
              <a:t> </a:t>
            </a:r>
            <a:r>
              <a:rPr dirty="0" err="1"/>
              <a:t>údajov</a:t>
            </a:r>
            <a:r>
              <a:rPr dirty="0"/>
              <a:t> </a:t>
            </a:r>
            <a:r>
              <a:rPr dirty="0" err="1"/>
              <a:t>rieši</a:t>
            </a:r>
            <a:r>
              <a:rPr dirty="0"/>
              <a:t>, </a:t>
            </a:r>
            <a:r>
              <a:rPr dirty="0" err="1"/>
              <a:t>kto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k </a:t>
            </a:r>
            <a:r>
              <a:rPr dirty="0" err="1"/>
              <a:t>dátam</a:t>
            </a:r>
            <a:r>
              <a:rPr dirty="0"/>
              <a:t> </a:t>
            </a:r>
            <a:r>
              <a:rPr dirty="0" err="1"/>
              <a:t>dostane</a:t>
            </a:r>
            <a:r>
              <a:rPr dirty="0"/>
              <a:t>. </a:t>
            </a:r>
            <a:r>
              <a:rPr dirty="0" err="1"/>
              <a:t>Správnosť</a:t>
            </a:r>
            <a:r>
              <a:rPr dirty="0"/>
              <a:t> </a:t>
            </a:r>
            <a:r>
              <a:rPr dirty="0" err="1"/>
              <a:t>rieši</a:t>
            </a:r>
            <a:r>
              <a:rPr dirty="0"/>
              <a:t>, </a:t>
            </a:r>
            <a:r>
              <a:rPr dirty="0" err="1"/>
              <a:t>či</a:t>
            </a:r>
            <a:r>
              <a:rPr dirty="0"/>
              <a:t> je </a:t>
            </a:r>
            <a:r>
              <a:rPr dirty="0" err="1"/>
              <a:t>výstup</a:t>
            </a:r>
            <a:r>
              <a:rPr dirty="0"/>
              <a:t> </a:t>
            </a:r>
            <a:r>
              <a:rPr dirty="0" err="1"/>
              <a:t>pravdivý</a:t>
            </a:r>
            <a:r>
              <a:rPr dirty="0"/>
              <a:t>. </a:t>
            </a:r>
            <a:r>
              <a:rPr dirty="0" err="1"/>
              <a:t>Jedno</a:t>
            </a:r>
            <a:r>
              <a:rPr dirty="0"/>
              <a:t> </a:t>
            </a:r>
            <a:r>
              <a:rPr dirty="0" err="1"/>
              <a:t>nezaručuje</a:t>
            </a:r>
            <a:r>
              <a:rPr dirty="0"/>
              <a:t> </a:t>
            </a:r>
            <a:r>
              <a:rPr dirty="0" err="1"/>
              <a:t>druhé</a:t>
            </a:r>
            <a:r>
              <a:rPr dirty="0"/>
              <a:t>.</a:t>
            </a:r>
          </a:p>
          <a:p>
            <a:r>
              <a:rPr dirty="0"/>
              <a:t>Pri </a:t>
            </a:r>
            <a:r>
              <a:rPr dirty="0" err="1"/>
              <a:t>normách</a:t>
            </a:r>
            <a:r>
              <a:rPr dirty="0"/>
              <a:t>: PDF </a:t>
            </a:r>
            <a:r>
              <a:rPr dirty="0" err="1"/>
              <a:t>noriem</a:t>
            </a:r>
            <a:r>
              <a:rPr dirty="0"/>
              <a:t> </a:t>
            </a:r>
            <a:r>
              <a:rPr dirty="0" err="1"/>
              <a:t>bývajú</a:t>
            </a:r>
            <a:r>
              <a:rPr dirty="0"/>
              <a:t> </a:t>
            </a:r>
            <a:r>
              <a:rPr dirty="0" err="1"/>
              <a:t>licencované</a:t>
            </a:r>
            <a:r>
              <a:rPr dirty="0"/>
              <a:t>. </a:t>
            </a:r>
            <a:r>
              <a:rPr dirty="0" err="1"/>
              <a:t>Nahrať</a:t>
            </a:r>
            <a:r>
              <a:rPr dirty="0"/>
              <a:t> ich </a:t>
            </a:r>
            <a:r>
              <a:rPr dirty="0" err="1"/>
              <a:t>smiete</a:t>
            </a:r>
            <a:r>
              <a:rPr dirty="0"/>
              <a:t> </a:t>
            </a:r>
            <a:r>
              <a:rPr dirty="0" err="1"/>
              <a:t>iba</a:t>
            </a:r>
            <a:r>
              <a:rPr dirty="0"/>
              <a:t> v </a:t>
            </a:r>
            <a:r>
              <a:rPr dirty="0" err="1"/>
              <a:t>súlade</a:t>
            </a:r>
            <a:r>
              <a:rPr dirty="0"/>
              <a:t> s </a:t>
            </a:r>
            <a:r>
              <a:rPr dirty="0" err="1"/>
              <a:t>licenciou</a:t>
            </a:r>
            <a:r>
              <a:rPr dirty="0"/>
              <a:t> a </a:t>
            </a:r>
            <a:r>
              <a:rPr dirty="0" err="1"/>
              <a:t>interným</a:t>
            </a:r>
            <a:r>
              <a:rPr dirty="0"/>
              <a:t> </a:t>
            </a:r>
            <a:r>
              <a:rPr dirty="0" err="1"/>
              <a:t>pravidlom</a:t>
            </a:r>
            <a:r>
              <a:rPr dirty="0"/>
              <a:t> – </a:t>
            </a:r>
            <a:r>
              <a:rPr dirty="0" err="1"/>
              <a:t>rozhoduje</a:t>
            </a:r>
            <a:r>
              <a:rPr dirty="0"/>
              <a:t> </a:t>
            </a:r>
            <a:r>
              <a:rPr dirty="0" err="1"/>
              <a:t>objednávateľ</a:t>
            </a:r>
            <a:r>
              <a:rPr dirty="0"/>
              <a:t>.</a:t>
            </a:r>
          </a:p>
          <a:p>
            <a:r>
              <a:rPr dirty="0"/>
              <a:t>Ak </a:t>
            </a:r>
            <a:r>
              <a:rPr dirty="0" err="1"/>
              <a:t>Altenova</a:t>
            </a:r>
            <a:r>
              <a:rPr dirty="0"/>
              <a:t> </a:t>
            </a:r>
            <a:r>
              <a:rPr dirty="0" err="1"/>
              <a:t>nemá</a:t>
            </a:r>
            <a:r>
              <a:rPr dirty="0"/>
              <a:t> </a:t>
            </a:r>
            <a:r>
              <a:rPr dirty="0" err="1"/>
              <a:t>interné</a:t>
            </a:r>
            <a:r>
              <a:rPr dirty="0"/>
              <a:t> </a:t>
            </a:r>
            <a:r>
              <a:rPr dirty="0" err="1"/>
              <a:t>pravidlá</a:t>
            </a:r>
            <a:r>
              <a:rPr dirty="0"/>
              <a:t> pre AI, </a:t>
            </a:r>
            <a:r>
              <a:rPr dirty="0" err="1"/>
              <a:t>odporuč</a:t>
            </a:r>
            <a:r>
              <a:rPr dirty="0"/>
              <a:t> ich </a:t>
            </a:r>
            <a:r>
              <a:rPr dirty="0" err="1"/>
              <a:t>ako</a:t>
            </a:r>
            <a:r>
              <a:rPr dirty="0"/>
              <a:t> </a:t>
            </a:r>
            <a:r>
              <a:rPr dirty="0" err="1"/>
              <a:t>jeden</a:t>
            </a:r>
            <a:r>
              <a:rPr dirty="0"/>
              <a:t> z </a:t>
            </a:r>
            <a:r>
              <a:rPr dirty="0" err="1"/>
              <a:t>bodov</a:t>
            </a:r>
            <a:r>
              <a:rPr dirty="0"/>
              <a:t> </a:t>
            </a:r>
            <a:r>
              <a:rPr dirty="0" err="1"/>
              <a:t>plánu</a:t>
            </a:r>
            <a:r>
              <a:rPr dirty="0"/>
              <a:t> </a:t>
            </a:r>
            <a:r>
              <a:rPr dirty="0" err="1"/>
              <a:t>zavedenia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Slajd 18</a:t>
            </a:r>
          </a:p>
          <a:p>
            <a:r>
              <a:t>Čas: 2 min (9:40–9:42).</a:t>
            </a:r>
          </a:p>
          <a:p>
            <a:r>
              <a:t>Tieto otázky budú v pracovnom zošite a v hodnotiacej rubrike. Budú ich používať pri každom teste projektu.</a:t>
            </a:r>
          </a:p>
          <a:p>
            <a:r>
              <a:t>Príklad k bodu 1: odpoveď „podľa normy treba…“ bez článku a strany je pre projektanta nepoužiteľná.</a:t>
            </a:r>
          </a:p>
          <a:p>
            <a:r>
              <a:t>Príklad k bodu 4: v zadaní zákazky je jedna výška skladovania, na porade padla iná. Model to má zachytiť, nie vybrať jednu z nich.</a:t>
            </a:r>
          </a:p>
          <a:p>
            <a:r>
              <a:t>Prepojenie: na tomto princípe stojí spoločný prípad po prestávke.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Slajd</a:t>
            </a:r>
            <a:r>
              <a:rPr dirty="0"/>
              <a:t> 19</a:t>
            </a:r>
          </a:p>
          <a:p>
            <a:r>
              <a:rPr dirty="0"/>
              <a:t>Čas: 2 min (9:42–9:44).</a:t>
            </a:r>
          </a:p>
          <a:p>
            <a:r>
              <a:rPr dirty="0" err="1"/>
              <a:t>Rovnakú</a:t>
            </a:r>
            <a:r>
              <a:rPr dirty="0"/>
              <a:t> </a:t>
            </a:r>
            <a:r>
              <a:rPr dirty="0" err="1"/>
              <a:t>štruktúru</a:t>
            </a:r>
            <a:r>
              <a:rPr dirty="0"/>
              <a:t> “ – bez </a:t>
            </a:r>
            <a:r>
              <a:rPr dirty="0" err="1"/>
              <a:t>nej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výstup</a:t>
            </a:r>
            <a:r>
              <a:rPr dirty="0"/>
              <a:t> </a:t>
            </a:r>
            <a:r>
              <a:rPr dirty="0" err="1"/>
              <a:t>nedá</a:t>
            </a:r>
            <a:r>
              <a:rPr dirty="0"/>
              <a:t> </a:t>
            </a:r>
            <a:r>
              <a:rPr dirty="0" err="1"/>
              <a:t>posúdiť</a:t>
            </a:r>
            <a:r>
              <a:rPr dirty="0"/>
              <a:t> a </a:t>
            </a:r>
            <a:r>
              <a:rPr dirty="0" err="1"/>
              <a:t>projekt</a:t>
            </a:r>
            <a:r>
              <a:rPr dirty="0"/>
              <a:t> </a:t>
            </a:r>
            <a:r>
              <a:rPr dirty="0" err="1"/>
              <a:t>nedá</a:t>
            </a:r>
            <a:r>
              <a:rPr dirty="0"/>
              <a:t> </a:t>
            </a:r>
            <a:r>
              <a:rPr dirty="0" err="1"/>
              <a:t>testovať</a:t>
            </a:r>
            <a:r>
              <a:rPr dirty="0"/>
              <a:t>.</a:t>
            </a:r>
          </a:p>
          <a:p>
            <a:r>
              <a:rPr dirty="0" err="1"/>
              <a:t>Prechod</a:t>
            </a:r>
            <a:r>
              <a:rPr dirty="0"/>
              <a:t>: „Teraz </a:t>
            </a:r>
            <a:r>
              <a:rPr dirty="0" err="1"/>
              <a:t>si</a:t>
            </a:r>
            <a:r>
              <a:rPr dirty="0"/>
              <a:t> to</a:t>
            </a:r>
            <a:r>
              <a:rPr lang="sk-SK" dirty="0"/>
              <a:t> použijú v karte vlastného projektu: cieľ, kontext, vstupy, výstup, kritériá kontroly.</a:t>
            </a:r>
          </a:p>
          <a:p>
            <a:r>
              <a:rPr lang="sk-SK" dirty="0"/>
              <a:t>Zdôrazni časť „Kontrola</a:t>
            </a:r>
            <a:r>
              <a:rPr dirty="0"/>
              <a:t> </a:t>
            </a:r>
            <a:r>
              <a:rPr dirty="0" err="1"/>
              <a:t>vyskúšate</a:t>
            </a:r>
            <a:r>
              <a:rPr dirty="0"/>
              <a:t> </a:t>
            </a:r>
            <a:r>
              <a:rPr dirty="0" err="1"/>
              <a:t>sami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malom</a:t>
            </a:r>
            <a:r>
              <a:rPr dirty="0"/>
              <a:t> </a:t>
            </a:r>
            <a:r>
              <a:rPr dirty="0" err="1"/>
              <a:t>projekte</a:t>
            </a:r>
            <a:r>
              <a:rPr dirty="0"/>
              <a:t>.“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Slajd</a:t>
            </a:r>
            <a:r>
              <a:rPr dirty="0"/>
              <a:t> 20</a:t>
            </a:r>
          </a:p>
          <a:p>
            <a:r>
              <a:rPr dirty="0"/>
              <a:t>Čas: 16 min (9:44–10:00): 1 min </a:t>
            </a:r>
            <a:r>
              <a:rPr dirty="0" err="1"/>
              <a:t>zadanie</a:t>
            </a:r>
            <a:r>
              <a:rPr dirty="0"/>
              <a:t>, 10 min </a:t>
            </a:r>
            <a:r>
              <a:rPr dirty="0" err="1"/>
              <a:t>práca</a:t>
            </a:r>
            <a:r>
              <a:rPr dirty="0"/>
              <a:t>, 5 min </a:t>
            </a:r>
            <a:r>
              <a:rPr dirty="0" err="1"/>
              <a:t>kontrola</a:t>
            </a:r>
            <a:r>
              <a:rPr dirty="0"/>
              <a:t> </a:t>
            </a:r>
            <a:r>
              <a:rPr dirty="0" err="1"/>
              <a:t>podľa</a:t>
            </a:r>
            <a:r>
              <a:rPr dirty="0"/>
              <a:t> </a:t>
            </a:r>
            <a:r>
              <a:rPr dirty="0" err="1"/>
              <a:t>kritérií</a:t>
            </a:r>
            <a:r>
              <a:rPr dirty="0"/>
              <a:t> a </a:t>
            </a:r>
            <a:r>
              <a:rPr dirty="0" err="1"/>
              <a:t>krátke</a:t>
            </a:r>
            <a:r>
              <a:rPr dirty="0"/>
              <a:t> </a:t>
            </a:r>
            <a:r>
              <a:rPr dirty="0" err="1"/>
              <a:t>porovnanie</a:t>
            </a:r>
            <a:r>
              <a:rPr dirty="0"/>
              <a:t>.</a:t>
            </a:r>
          </a:p>
          <a:p>
            <a:r>
              <a:rPr dirty="0" err="1"/>
              <a:t>Význam</a:t>
            </a:r>
            <a:r>
              <a:rPr dirty="0"/>
              <a:t> </a:t>
            </a:r>
            <a:r>
              <a:rPr dirty="0" err="1"/>
              <a:t>cvičenia</a:t>
            </a:r>
            <a:r>
              <a:rPr dirty="0"/>
              <a:t> pre </a:t>
            </a:r>
            <a:r>
              <a:rPr dirty="0" err="1"/>
              <a:t>účastníkov</a:t>
            </a:r>
            <a:r>
              <a:rPr dirty="0"/>
              <a:t>: </a:t>
            </a:r>
            <a:r>
              <a:rPr dirty="0" err="1"/>
              <a:t>prvýkrát</a:t>
            </a:r>
            <a:r>
              <a:rPr dirty="0"/>
              <a:t> </a:t>
            </a:r>
            <a:r>
              <a:rPr dirty="0" err="1"/>
              <a:t>prejdú</a:t>
            </a:r>
            <a:r>
              <a:rPr dirty="0"/>
              <a:t> </a:t>
            </a:r>
            <a:r>
              <a:rPr dirty="0" err="1"/>
              <a:t>celý</a:t>
            </a:r>
            <a:r>
              <a:rPr dirty="0"/>
              <a:t> </a:t>
            </a:r>
            <a:r>
              <a:rPr dirty="0" err="1"/>
              <a:t>postup</a:t>
            </a:r>
            <a:r>
              <a:rPr dirty="0"/>
              <a:t> </a:t>
            </a:r>
            <a:r>
              <a:rPr dirty="0" err="1"/>
              <a:t>projektu</a:t>
            </a:r>
            <a:r>
              <a:rPr dirty="0"/>
              <a:t> (</a:t>
            </a:r>
            <a:r>
              <a:rPr dirty="0" err="1"/>
              <a:t>inštrukcie</a:t>
            </a:r>
            <a:r>
              <a:rPr dirty="0"/>
              <a:t> – </a:t>
            </a:r>
            <a:r>
              <a:rPr dirty="0" err="1"/>
              <a:t>podklad</a:t>
            </a:r>
            <a:r>
              <a:rPr dirty="0"/>
              <a:t> – </a:t>
            </a:r>
            <a:r>
              <a:rPr dirty="0" err="1"/>
              <a:t>zadanie</a:t>
            </a:r>
            <a:r>
              <a:rPr dirty="0"/>
              <a:t> – </a:t>
            </a:r>
            <a:r>
              <a:rPr dirty="0" err="1"/>
              <a:t>kontrola</a:t>
            </a:r>
            <a:r>
              <a:rPr dirty="0"/>
              <a:t>)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malej</a:t>
            </a:r>
            <a:r>
              <a:rPr dirty="0"/>
              <a:t> </a:t>
            </a:r>
            <a:r>
              <a:rPr dirty="0" err="1"/>
              <a:t>úlohe</a:t>
            </a:r>
            <a:r>
              <a:rPr dirty="0"/>
              <a:t>. </a:t>
            </a:r>
            <a:r>
              <a:rPr dirty="0" err="1"/>
              <a:t>Rovnaký</a:t>
            </a:r>
            <a:r>
              <a:rPr dirty="0"/>
              <a:t> </a:t>
            </a:r>
            <a:r>
              <a:rPr dirty="0" err="1"/>
              <a:t>postup</a:t>
            </a:r>
            <a:r>
              <a:rPr dirty="0"/>
              <a:t> </a:t>
            </a:r>
            <a:r>
              <a:rPr dirty="0" err="1"/>
              <a:t>potom</a:t>
            </a:r>
            <a:r>
              <a:rPr dirty="0"/>
              <a:t> </a:t>
            </a:r>
            <a:r>
              <a:rPr dirty="0" err="1"/>
              <a:t>zopakujú</a:t>
            </a:r>
            <a:r>
              <a:rPr dirty="0"/>
              <a:t> </a:t>
            </a:r>
            <a:r>
              <a:rPr dirty="0" err="1"/>
              <a:t>vo</a:t>
            </a:r>
            <a:r>
              <a:rPr dirty="0"/>
              <a:t> </a:t>
            </a:r>
            <a:r>
              <a:rPr dirty="0" err="1"/>
              <a:t>väčšom</a:t>
            </a:r>
            <a:r>
              <a:rPr dirty="0"/>
              <a:t> v </a:t>
            </a:r>
            <a:r>
              <a:rPr dirty="0" err="1"/>
              <a:t>spoločnom</a:t>
            </a:r>
            <a:r>
              <a:rPr dirty="0"/>
              <a:t> </a:t>
            </a:r>
            <a:r>
              <a:rPr dirty="0" err="1"/>
              <a:t>prípade</a:t>
            </a:r>
            <a:r>
              <a:rPr dirty="0"/>
              <a:t> a </a:t>
            </a:r>
            <a:r>
              <a:rPr dirty="0" err="1"/>
              <a:t>vo</a:t>
            </a:r>
            <a:r>
              <a:rPr dirty="0"/>
              <a:t> </a:t>
            </a:r>
            <a:r>
              <a:rPr dirty="0" err="1"/>
              <a:t>vlastnom</a:t>
            </a:r>
            <a:r>
              <a:rPr dirty="0"/>
              <a:t> </a:t>
            </a:r>
            <a:r>
              <a:rPr dirty="0" err="1"/>
              <a:t>projekte</a:t>
            </a:r>
            <a:r>
              <a:rPr dirty="0"/>
              <a:t>.</a:t>
            </a:r>
          </a:p>
          <a:p>
            <a:r>
              <a:rPr dirty="0" err="1"/>
              <a:t>Inštrukcie</a:t>
            </a:r>
            <a:r>
              <a:rPr dirty="0"/>
              <a:t> </a:t>
            </a:r>
            <a:r>
              <a:rPr dirty="0" err="1"/>
              <a:t>projektu</a:t>
            </a:r>
            <a:r>
              <a:rPr dirty="0"/>
              <a:t> (v </a:t>
            </a:r>
            <a:r>
              <a:rPr dirty="0" err="1"/>
              <a:t>pracovnom</a:t>
            </a:r>
            <a:r>
              <a:rPr dirty="0"/>
              <a:t> </a:t>
            </a:r>
            <a:r>
              <a:rPr dirty="0" err="1"/>
              <a:t>zošite</a:t>
            </a:r>
            <a:r>
              <a:rPr dirty="0"/>
              <a:t>):</a:t>
            </a:r>
          </a:p>
          <a:p>
            <a:r>
              <a:rPr dirty="0"/>
              <a:t>„Si </a:t>
            </a:r>
            <a:r>
              <a:rPr dirty="0" err="1"/>
              <a:t>asistent</a:t>
            </a:r>
            <a:r>
              <a:rPr dirty="0"/>
              <a:t> </a:t>
            </a:r>
            <a:r>
              <a:rPr dirty="0" err="1"/>
              <a:t>obchodníka</a:t>
            </a:r>
            <a:r>
              <a:rPr dirty="0"/>
              <a:t> </a:t>
            </a:r>
            <a:r>
              <a:rPr dirty="0" err="1"/>
              <a:t>firmy</a:t>
            </a:r>
            <a:r>
              <a:rPr dirty="0"/>
              <a:t>, </a:t>
            </a:r>
            <a:r>
              <a:rPr dirty="0" err="1"/>
              <a:t>ktorá</a:t>
            </a:r>
            <a:r>
              <a:rPr dirty="0"/>
              <a:t> </a:t>
            </a:r>
            <a:r>
              <a:rPr dirty="0" err="1"/>
              <a:t>projektuje</a:t>
            </a:r>
            <a:r>
              <a:rPr dirty="0"/>
              <a:t> a </a:t>
            </a:r>
            <a:r>
              <a:rPr dirty="0" err="1"/>
              <a:t>montuje</a:t>
            </a:r>
            <a:r>
              <a:rPr dirty="0"/>
              <a:t> </a:t>
            </a:r>
            <a:r>
              <a:rPr dirty="0" err="1"/>
              <a:t>stabilné</a:t>
            </a:r>
            <a:r>
              <a:rPr dirty="0"/>
              <a:t> </a:t>
            </a:r>
            <a:r>
              <a:rPr dirty="0" err="1"/>
              <a:t>hasiace</a:t>
            </a:r>
            <a:r>
              <a:rPr dirty="0"/>
              <a:t> </a:t>
            </a:r>
            <a:r>
              <a:rPr dirty="0" err="1"/>
              <a:t>zariadenia</a:t>
            </a:r>
            <a:r>
              <a:rPr dirty="0"/>
              <a:t>. </a:t>
            </a:r>
            <a:r>
              <a:rPr dirty="0" err="1"/>
              <a:t>Pracuj</a:t>
            </a:r>
            <a:r>
              <a:rPr dirty="0"/>
              <a:t> </a:t>
            </a:r>
            <a:r>
              <a:rPr dirty="0" err="1"/>
              <a:t>iba</a:t>
            </a:r>
            <a:r>
              <a:rPr dirty="0"/>
              <a:t> s </a:t>
            </a:r>
            <a:r>
              <a:rPr dirty="0" err="1"/>
              <a:t>podkladmi</a:t>
            </a:r>
            <a:r>
              <a:rPr dirty="0"/>
              <a:t> v </a:t>
            </a:r>
            <a:r>
              <a:rPr dirty="0" err="1"/>
              <a:t>tomto</a:t>
            </a:r>
            <a:r>
              <a:rPr dirty="0"/>
              <a:t> </a:t>
            </a:r>
            <a:r>
              <a:rPr dirty="0" err="1"/>
              <a:t>projekte</a:t>
            </a:r>
            <a:r>
              <a:rPr dirty="0"/>
              <a:t>. </a:t>
            </a:r>
            <a:r>
              <a:rPr dirty="0" err="1"/>
              <a:t>Nevymýšľaj</a:t>
            </a:r>
            <a:r>
              <a:rPr dirty="0"/>
              <a:t> </a:t>
            </a:r>
            <a:r>
              <a:rPr dirty="0" err="1"/>
              <a:t>ceny</a:t>
            </a:r>
            <a:r>
              <a:rPr dirty="0"/>
              <a:t>, </a:t>
            </a:r>
            <a:r>
              <a:rPr dirty="0" err="1"/>
              <a:t>termíny</a:t>
            </a:r>
            <a:r>
              <a:rPr dirty="0"/>
              <a:t> ani </a:t>
            </a:r>
            <a:r>
              <a:rPr dirty="0" err="1"/>
              <a:t>technické</a:t>
            </a:r>
            <a:r>
              <a:rPr dirty="0"/>
              <a:t> </a:t>
            </a:r>
            <a:r>
              <a:rPr dirty="0" err="1"/>
              <a:t>parametre</a:t>
            </a:r>
            <a:r>
              <a:rPr dirty="0"/>
              <a:t>. Ak </a:t>
            </a:r>
            <a:r>
              <a:rPr dirty="0" err="1"/>
              <a:t>niečo</a:t>
            </a:r>
            <a:r>
              <a:rPr dirty="0"/>
              <a:t> </a:t>
            </a:r>
            <a:r>
              <a:rPr dirty="0" err="1"/>
              <a:t>chýba</a:t>
            </a:r>
            <a:r>
              <a:rPr dirty="0"/>
              <a:t>, </a:t>
            </a:r>
            <a:r>
              <a:rPr dirty="0" err="1"/>
              <a:t>uveď</a:t>
            </a:r>
            <a:r>
              <a:rPr dirty="0"/>
              <a:t> to v </a:t>
            </a:r>
            <a:r>
              <a:rPr dirty="0" err="1"/>
              <a:t>samostatnom</a:t>
            </a:r>
            <a:r>
              <a:rPr dirty="0"/>
              <a:t> </a:t>
            </a:r>
            <a:r>
              <a:rPr dirty="0" err="1"/>
              <a:t>zozname</a:t>
            </a:r>
            <a:r>
              <a:rPr dirty="0"/>
              <a:t> „</a:t>
            </a:r>
            <a:r>
              <a:rPr dirty="0" err="1"/>
              <a:t>Potrebujeme</a:t>
            </a:r>
            <a:r>
              <a:rPr dirty="0"/>
              <a:t> </a:t>
            </a:r>
            <a:r>
              <a:rPr dirty="0" err="1"/>
              <a:t>doplniť</a:t>
            </a:r>
            <a:r>
              <a:rPr dirty="0"/>
              <a:t>“. Pri </a:t>
            </a:r>
            <a:r>
              <a:rPr dirty="0" err="1"/>
              <a:t>každom</a:t>
            </a:r>
            <a:r>
              <a:rPr dirty="0"/>
              <a:t> </a:t>
            </a:r>
            <a:r>
              <a:rPr dirty="0" err="1"/>
              <a:t>údaji</a:t>
            </a:r>
            <a:r>
              <a:rPr dirty="0"/>
              <a:t> </a:t>
            </a:r>
            <a:r>
              <a:rPr dirty="0" err="1"/>
              <a:t>uveď</a:t>
            </a:r>
            <a:r>
              <a:rPr dirty="0"/>
              <a:t>, z </a:t>
            </a:r>
            <a:r>
              <a:rPr dirty="0" err="1"/>
              <a:t>ktorého</a:t>
            </a:r>
            <a:r>
              <a:rPr dirty="0"/>
              <a:t> </a:t>
            </a:r>
            <a:r>
              <a:rPr dirty="0" err="1"/>
              <a:t>súboru</a:t>
            </a:r>
            <a:r>
              <a:rPr dirty="0"/>
              <a:t> </a:t>
            </a:r>
            <a:r>
              <a:rPr dirty="0" err="1"/>
              <a:t>pochádza</a:t>
            </a:r>
            <a:r>
              <a:rPr dirty="0"/>
              <a:t>. </a:t>
            </a:r>
            <a:r>
              <a:rPr dirty="0" err="1"/>
              <a:t>Píš</a:t>
            </a:r>
            <a:r>
              <a:rPr dirty="0"/>
              <a:t> po </a:t>
            </a:r>
            <a:r>
              <a:rPr dirty="0" err="1"/>
              <a:t>slovensky</a:t>
            </a:r>
            <a:r>
              <a:rPr dirty="0"/>
              <a:t>, </a:t>
            </a:r>
            <a:r>
              <a:rPr dirty="0" err="1"/>
              <a:t>zdvorilo</a:t>
            </a:r>
            <a:r>
              <a:rPr dirty="0"/>
              <a:t>, s </a:t>
            </a:r>
            <a:r>
              <a:rPr dirty="0" err="1"/>
              <a:t>vykaním</a:t>
            </a:r>
            <a:r>
              <a:rPr dirty="0"/>
              <a:t>.“</a:t>
            </a:r>
          </a:p>
          <a:p>
            <a:r>
              <a:rPr dirty="0" err="1"/>
              <a:t>Úloha</a:t>
            </a:r>
            <a:r>
              <a:rPr dirty="0"/>
              <a:t> (v </a:t>
            </a:r>
            <a:r>
              <a:rPr dirty="0" err="1"/>
              <a:t>pracovnom</a:t>
            </a:r>
            <a:r>
              <a:rPr dirty="0"/>
              <a:t> </a:t>
            </a:r>
            <a:r>
              <a:rPr dirty="0" err="1"/>
              <a:t>zošite</a:t>
            </a:r>
            <a:r>
              <a:rPr dirty="0"/>
              <a:t>):</a:t>
            </a:r>
          </a:p>
          <a:p>
            <a:r>
              <a:rPr dirty="0"/>
              <a:t>„</a:t>
            </a:r>
            <a:r>
              <a:rPr dirty="0" err="1"/>
              <a:t>Priprav</a:t>
            </a:r>
            <a:r>
              <a:rPr dirty="0"/>
              <a:t> </a:t>
            </a:r>
            <a:r>
              <a:rPr dirty="0" err="1"/>
              <a:t>krátku</a:t>
            </a:r>
            <a:r>
              <a:rPr dirty="0"/>
              <a:t> </a:t>
            </a:r>
            <a:r>
              <a:rPr dirty="0" err="1"/>
              <a:t>odpoveď</a:t>
            </a:r>
            <a:r>
              <a:rPr dirty="0"/>
              <a:t> </a:t>
            </a:r>
            <a:r>
              <a:rPr dirty="0" err="1"/>
              <a:t>zákazníkovi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jeho</a:t>
            </a:r>
            <a:r>
              <a:rPr dirty="0"/>
              <a:t> </a:t>
            </a:r>
            <a:r>
              <a:rPr dirty="0" err="1"/>
              <a:t>dopyt</a:t>
            </a:r>
            <a:r>
              <a:rPr dirty="0"/>
              <a:t> a </a:t>
            </a:r>
            <a:r>
              <a:rPr dirty="0" err="1"/>
              <a:t>zoznam</a:t>
            </a:r>
            <a:r>
              <a:rPr dirty="0"/>
              <a:t> </a:t>
            </a:r>
            <a:r>
              <a:rPr dirty="0" err="1"/>
              <a:t>otázok</a:t>
            </a:r>
            <a:r>
              <a:rPr dirty="0"/>
              <a:t>, bez </a:t>
            </a:r>
            <a:r>
              <a:rPr dirty="0" err="1"/>
              <a:t>ktorých</a:t>
            </a:r>
            <a:r>
              <a:rPr dirty="0"/>
              <a:t> </a:t>
            </a:r>
            <a:r>
              <a:rPr dirty="0" err="1"/>
              <a:t>nevieme</a:t>
            </a:r>
            <a:r>
              <a:rPr dirty="0"/>
              <a:t> </a:t>
            </a:r>
            <a:r>
              <a:rPr dirty="0" err="1"/>
              <a:t>pripraviť</a:t>
            </a:r>
            <a:r>
              <a:rPr dirty="0"/>
              <a:t> </a:t>
            </a:r>
            <a:r>
              <a:rPr dirty="0" err="1"/>
              <a:t>cenovú</a:t>
            </a:r>
            <a:r>
              <a:rPr dirty="0"/>
              <a:t> </a:t>
            </a:r>
            <a:r>
              <a:rPr dirty="0" err="1"/>
              <a:t>ponuku</a:t>
            </a:r>
            <a:r>
              <a:rPr dirty="0"/>
              <a:t>.“</a:t>
            </a:r>
          </a:p>
          <a:p>
            <a:r>
              <a:rPr dirty="0" err="1"/>
              <a:t>Čo</a:t>
            </a:r>
            <a:r>
              <a:rPr dirty="0"/>
              <a:t> </a:t>
            </a:r>
            <a:r>
              <a:rPr dirty="0" err="1"/>
              <a:t>má</a:t>
            </a:r>
            <a:r>
              <a:rPr dirty="0"/>
              <a:t> model </a:t>
            </a:r>
            <a:r>
              <a:rPr dirty="0" err="1"/>
              <a:t>nájsť</a:t>
            </a:r>
            <a:r>
              <a:rPr dirty="0"/>
              <a:t>: </a:t>
            </a:r>
            <a:r>
              <a:rPr dirty="0" err="1"/>
              <a:t>zákazník</a:t>
            </a:r>
            <a:r>
              <a:rPr dirty="0"/>
              <a:t> </a:t>
            </a:r>
            <a:r>
              <a:rPr dirty="0" err="1"/>
              <a:t>žiada</a:t>
            </a:r>
            <a:r>
              <a:rPr dirty="0"/>
              <a:t> </a:t>
            </a:r>
            <a:r>
              <a:rPr dirty="0" err="1"/>
              <a:t>orientačnú</a:t>
            </a:r>
            <a:r>
              <a:rPr dirty="0"/>
              <a:t> </a:t>
            </a:r>
            <a:r>
              <a:rPr dirty="0" err="1"/>
              <a:t>cenu</a:t>
            </a:r>
            <a:r>
              <a:rPr dirty="0"/>
              <a:t> a </a:t>
            </a:r>
            <a:r>
              <a:rPr dirty="0" err="1"/>
              <a:t>termín</a:t>
            </a:r>
            <a:r>
              <a:rPr dirty="0"/>
              <a:t> </a:t>
            </a:r>
            <a:r>
              <a:rPr dirty="0" err="1"/>
              <a:t>montáže</a:t>
            </a:r>
            <a:r>
              <a:rPr dirty="0"/>
              <a:t>. </a:t>
            </a:r>
            <a:r>
              <a:rPr dirty="0" err="1"/>
              <a:t>Chýba</a:t>
            </a:r>
            <a:r>
              <a:rPr dirty="0"/>
              <a:t> </a:t>
            </a:r>
            <a:r>
              <a:rPr dirty="0" err="1"/>
              <a:t>však</a:t>
            </a:r>
            <a:r>
              <a:rPr dirty="0"/>
              <a:t> </a:t>
            </a:r>
            <a:r>
              <a:rPr dirty="0" err="1"/>
              <a:t>výška</a:t>
            </a:r>
            <a:r>
              <a:rPr dirty="0"/>
              <a:t> </a:t>
            </a:r>
            <a:r>
              <a:rPr dirty="0" err="1"/>
              <a:t>skladovania</a:t>
            </a:r>
            <a:r>
              <a:rPr dirty="0"/>
              <a:t>, </a:t>
            </a:r>
            <a:r>
              <a:rPr dirty="0" err="1"/>
              <a:t>druh</a:t>
            </a:r>
            <a:r>
              <a:rPr dirty="0"/>
              <a:t> </a:t>
            </a:r>
            <a:r>
              <a:rPr dirty="0" err="1"/>
              <a:t>skladovaného</a:t>
            </a:r>
            <a:r>
              <a:rPr dirty="0"/>
              <a:t> </a:t>
            </a:r>
            <a:r>
              <a:rPr dirty="0" err="1"/>
              <a:t>tovaru</a:t>
            </a:r>
            <a:r>
              <a:rPr dirty="0"/>
              <a:t>, </a:t>
            </a:r>
            <a:r>
              <a:rPr dirty="0" err="1"/>
              <a:t>zdroj</a:t>
            </a:r>
            <a:r>
              <a:rPr dirty="0"/>
              <a:t> </a:t>
            </a:r>
            <a:r>
              <a:rPr dirty="0" err="1"/>
              <a:t>vody</a:t>
            </a:r>
            <a:r>
              <a:rPr dirty="0"/>
              <a:t>, </a:t>
            </a:r>
            <a:r>
              <a:rPr dirty="0" err="1"/>
              <a:t>projektová</a:t>
            </a:r>
            <a:r>
              <a:rPr dirty="0"/>
              <a:t> </a:t>
            </a:r>
            <a:r>
              <a:rPr dirty="0" err="1"/>
              <a:t>dokumentácia</a:t>
            </a:r>
            <a:r>
              <a:rPr dirty="0"/>
              <a:t> </a:t>
            </a:r>
            <a:r>
              <a:rPr dirty="0" err="1"/>
              <a:t>stavby</a:t>
            </a:r>
            <a:r>
              <a:rPr dirty="0"/>
              <a:t> a </a:t>
            </a:r>
            <a:r>
              <a:rPr dirty="0" err="1"/>
              <a:t>požiadavka</a:t>
            </a:r>
            <a:r>
              <a:rPr dirty="0"/>
              <a:t> </a:t>
            </a:r>
            <a:r>
              <a:rPr dirty="0" err="1"/>
              <a:t>poisťovne</a:t>
            </a:r>
            <a:r>
              <a:rPr dirty="0"/>
              <a:t>. </a:t>
            </a:r>
            <a:r>
              <a:rPr dirty="0" err="1"/>
              <a:t>Zmienka</a:t>
            </a:r>
            <a:r>
              <a:rPr dirty="0"/>
              <a:t> o </a:t>
            </a:r>
            <a:r>
              <a:rPr dirty="0" err="1"/>
              <a:t>fotovoltike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streche</a:t>
            </a:r>
            <a:r>
              <a:rPr dirty="0"/>
              <a:t> </a:t>
            </a:r>
            <a:r>
              <a:rPr dirty="0" err="1"/>
              <a:t>nie</a:t>
            </a:r>
            <a:r>
              <a:rPr dirty="0"/>
              <a:t> je pre </a:t>
            </a:r>
            <a:r>
              <a:rPr dirty="0" err="1"/>
              <a:t>ponuku</a:t>
            </a:r>
            <a:r>
              <a:rPr dirty="0"/>
              <a:t> </a:t>
            </a:r>
            <a:r>
              <a:rPr dirty="0" err="1"/>
              <a:t>rozhodujúca</a:t>
            </a:r>
            <a:r>
              <a:rPr dirty="0"/>
              <a:t>, model </a:t>
            </a:r>
            <a:r>
              <a:rPr dirty="0" err="1"/>
              <a:t>ju</a:t>
            </a:r>
            <a:r>
              <a:rPr dirty="0"/>
              <a:t> </a:t>
            </a:r>
            <a:r>
              <a:rPr dirty="0" err="1"/>
              <a:t>však</a:t>
            </a:r>
            <a:r>
              <a:rPr dirty="0"/>
              <a:t> </a:t>
            </a:r>
            <a:r>
              <a:rPr dirty="0" err="1"/>
              <a:t>môže</a:t>
            </a:r>
            <a:r>
              <a:rPr dirty="0"/>
              <a:t> </a:t>
            </a:r>
            <a:r>
              <a:rPr dirty="0" err="1"/>
              <a:t>uviesť</a:t>
            </a:r>
            <a:r>
              <a:rPr dirty="0"/>
              <a:t> </a:t>
            </a:r>
            <a:r>
              <a:rPr dirty="0" err="1"/>
              <a:t>ako</a:t>
            </a:r>
            <a:r>
              <a:rPr dirty="0"/>
              <a:t> </a:t>
            </a:r>
            <a:r>
              <a:rPr dirty="0" err="1"/>
              <a:t>otázku</a:t>
            </a:r>
            <a:r>
              <a:rPr dirty="0"/>
              <a:t>.</a:t>
            </a:r>
          </a:p>
          <a:p>
            <a:r>
              <a:rPr dirty="0"/>
              <a:t>Na </a:t>
            </a:r>
            <a:r>
              <a:rPr dirty="0" err="1"/>
              <a:t>čo</a:t>
            </a:r>
            <a:r>
              <a:rPr dirty="0"/>
              <a:t> </a:t>
            </a:r>
            <a:r>
              <a:rPr dirty="0" err="1"/>
              <a:t>upozorniť</a:t>
            </a:r>
            <a:r>
              <a:rPr dirty="0"/>
              <a:t>: </a:t>
            </a:r>
            <a:r>
              <a:rPr dirty="0" err="1"/>
              <a:t>ak</a:t>
            </a:r>
            <a:r>
              <a:rPr dirty="0"/>
              <a:t> model </a:t>
            </a:r>
            <a:r>
              <a:rPr dirty="0" err="1"/>
              <a:t>uvedie</a:t>
            </a:r>
            <a:r>
              <a:rPr dirty="0"/>
              <a:t> </a:t>
            </a:r>
            <a:r>
              <a:rPr dirty="0" err="1"/>
              <a:t>cenu</a:t>
            </a:r>
            <a:r>
              <a:rPr dirty="0"/>
              <a:t> </a:t>
            </a:r>
            <a:r>
              <a:rPr dirty="0" err="1"/>
              <a:t>alebo</a:t>
            </a:r>
            <a:r>
              <a:rPr dirty="0"/>
              <a:t> </a:t>
            </a:r>
            <a:r>
              <a:rPr dirty="0" err="1"/>
              <a:t>termín</a:t>
            </a:r>
            <a:r>
              <a:rPr dirty="0"/>
              <a:t>, je to </a:t>
            </a:r>
            <a:r>
              <a:rPr dirty="0" err="1"/>
              <a:t>chyba</a:t>
            </a:r>
            <a:r>
              <a:rPr dirty="0"/>
              <a:t> – </a:t>
            </a:r>
            <a:r>
              <a:rPr dirty="0" err="1"/>
              <a:t>inštrukcia</a:t>
            </a:r>
            <a:r>
              <a:rPr dirty="0"/>
              <a:t> to </a:t>
            </a:r>
            <a:r>
              <a:rPr dirty="0" err="1"/>
              <a:t>zakazuje</a:t>
            </a:r>
            <a:r>
              <a:rPr dirty="0"/>
              <a:t>. </a:t>
            </a:r>
            <a:r>
              <a:rPr dirty="0" err="1"/>
              <a:t>Ukážte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to </a:t>
            </a:r>
            <a:r>
              <a:rPr dirty="0" err="1"/>
              <a:t>spoločne</a:t>
            </a:r>
            <a:r>
              <a:rPr dirty="0"/>
              <a:t>.</a:t>
            </a:r>
          </a:p>
          <a:p>
            <a:r>
              <a:rPr dirty="0" err="1"/>
              <a:t>Kontrola</a:t>
            </a:r>
            <a:r>
              <a:rPr dirty="0"/>
              <a:t>: 2–3 </a:t>
            </a:r>
            <a:r>
              <a:rPr dirty="0" err="1"/>
              <a:t>účastníci</a:t>
            </a:r>
            <a:r>
              <a:rPr dirty="0"/>
              <a:t> </a:t>
            </a:r>
            <a:r>
              <a:rPr dirty="0" err="1"/>
              <a:t>prečítajú</a:t>
            </a:r>
            <a:r>
              <a:rPr dirty="0"/>
              <a:t>, </a:t>
            </a:r>
            <a:r>
              <a:rPr dirty="0" err="1"/>
              <a:t>čo</a:t>
            </a:r>
            <a:r>
              <a:rPr dirty="0"/>
              <a:t> </a:t>
            </a:r>
            <a:r>
              <a:rPr dirty="0" err="1"/>
              <a:t>im</a:t>
            </a:r>
            <a:r>
              <a:rPr dirty="0"/>
              <a:t> model dal do </a:t>
            </a:r>
            <a:r>
              <a:rPr dirty="0" err="1"/>
              <a:t>zoznamu</a:t>
            </a:r>
            <a:r>
              <a:rPr dirty="0"/>
              <a:t> „</a:t>
            </a:r>
            <a:r>
              <a:rPr dirty="0" err="1"/>
              <a:t>Potrebujeme</a:t>
            </a:r>
            <a:r>
              <a:rPr dirty="0"/>
              <a:t> </a:t>
            </a:r>
            <a:r>
              <a:rPr dirty="0" err="1"/>
              <a:t>doplniť</a:t>
            </a:r>
            <a:r>
              <a:rPr dirty="0"/>
              <a:t>“. </a:t>
            </a:r>
            <a:r>
              <a:rPr dirty="0" err="1"/>
              <a:t>Porovnajte</a:t>
            </a:r>
            <a:r>
              <a:rPr dirty="0"/>
              <a:t>, </a:t>
            </a:r>
            <a:r>
              <a:rPr dirty="0" err="1"/>
              <a:t>kto</a:t>
            </a:r>
            <a:r>
              <a:rPr dirty="0"/>
              <a:t> mal </a:t>
            </a:r>
            <a:r>
              <a:rPr dirty="0" err="1"/>
              <a:t>čo</a:t>
            </a:r>
            <a:r>
              <a:rPr dirty="0"/>
              <a:t> </a:t>
            </a:r>
            <a:r>
              <a:rPr dirty="0" err="1"/>
              <a:t>navyše</a:t>
            </a:r>
            <a:r>
              <a:rPr dirty="0"/>
              <a:t>.</a:t>
            </a:r>
          </a:p>
          <a:p>
            <a:r>
              <a:rPr dirty="0" err="1"/>
              <a:t>Záloha</a:t>
            </a:r>
            <a:r>
              <a:rPr dirty="0"/>
              <a:t>: </a:t>
            </a:r>
            <a:r>
              <a:rPr dirty="0" err="1"/>
              <a:t>ak</a:t>
            </a:r>
            <a:r>
              <a:rPr dirty="0"/>
              <a:t> </a:t>
            </a:r>
            <a:r>
              <a:rPr dirty="0" err="1"/>
              <a:t>niekto</a:t>
            </a:r>
            <a:r>
              <a:rPr dirty="0"/>
              <a:t> </a:t>
            </a:r>
            <a:r>
              <a:rPr dirty="0" err="1"/>
              <a:t>nemôže</a:t>
            </a:r>
            <a:r>
              <a:rPr dirty="0"/>
              <a:t> </a:t>
            </a:r>
            <a:r>
              <a:rPr dirty="0" err="1"/>
              <a:t>nahrať</a:t>
            </a:r>
            <a:r>
              <a:rPr dirty="0"/>
              <a:t> </a:t>
            </a:r>
            <a:r>
              <a:rPr dirty="0" err="1"/>
              <a:t>súbor</a:t>
            </a:r>
            <a:r>
              <a:rPr dirty="0"/>
              <a:t>, text </a:t>
            </a:r>
            <a:r>
              <a:rPr dirty="0" err="1"/>
              <a:t>dopytu</a:t>
            </a:r>
            <a:r>
              <a:rPr dirty="0"/>
              <a:t> je v </a:t>
            </a:r>
            <a:r>
              <a:rPr dirty="0" err="1"/>
              <a:t>pracovnom</a:t>
            </a:r>
            <a:r>
              <a:rPr dirty="0"/>
              <a:t> </a:t>
            </a:r>
            <a:r>
              <a:rPr dirty="0" err="1"/>
              <a:t>zošite</a:t>
            </a:r>
            <a:r>
              <a:rPr dirty="0"/>
              <a:t> – </a:t>
            </a:r>
            <a:r>
              <a:rPr dirty="0" err="1"/>
              <a:t>vloží</a:t>
            </a:r>
            <a:r>
              <a:rPr dirty="0"/>
              <a:t> ho do </a:t>
            </a:r>
            <a:r>
              <a:rPr dirty="0" err="1"/>
              <a:t>rozhovoru</a:t>
            </a:r>
            <a:r>
              <a:rPr dirty="0"/>
              <a:t>.</a:t>
            </a:r>
          </a:p>
          <a:p>
            <a:r>
              <a:rPr dirty="0"/>
              <a:t>Ak </a:t>
            </a:r>
            <a:r>
              <a:rPr dirty="0" err="1"/>
              <a:t>budeš</a:t>
            </a:r>
            <a:r>
              <a:rPr dirty="0"/>
              <a:t> v </a:t>
            </a:r>
            <a:r>
              <a:rPr dirty="0" err="1"/>
              <a:t>sklze</a:t>
            </a:r>
            <a:r>
              <a:rPr dirty="0"/>
              <a:t>: </a:t>
            </a:r>
            <a:r>
              <a:rPr dirty="0" err="1"/>
              <a:t>skráť</a:t>
            </a:r>
            <a:r>
              <a:rPr dirty="0"/>
              <a:t> </a:t>
            </a:r>
            <a:r>
              <a:rPr dirty="0" err="1"/>
              <a:t>spoločnú</a:t>
            </a:r>
            <a:r>
              <a:rPr dirty="0"/>
              <a:t> </a:t>
            </a:r>
            <a:r>
              <a:rPr dirty="0" err="1"/>
              <a:t>kontrolu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2 </a:t>
            </a:r>
            <a:r>
              <a:rPr dirty="0" err="1"/>
              <a:t>minúty</a:t>
            </a:r>
            <a:r>
              <a:rPr dirty="0"/>
              <a:t>, </a:t>
            </a:r>
            <a:r>
              <a:rPr dirty="0" err="1"/>
              <a:t>nech</a:t>
            </a:r>
            <a:r>
              <a:rPr dirty="0"/>
              <a:t> </a:t>
            </a:r>
            <a:r>
              <a:rPr dirty="0" err="1"/>
              <a:t>prestávka</a:t>
            </a:r>
            <a:r>
              <a:rPr dirty="0"/>
              <a:t> </a:t>
            </a:r>
            <a:r>
              <a:rPr dirty="0" err="1"/>
              <a:t>začne</a:t>
            </a:r>
            <a:r>
              <a:rPr dirty="0"/>
              <a:t> </a:t>
            </a:r>
            <a:r>
              <a:rPr dirty="0" err="1"/>
              <a:t>načas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8000" y="2232000"/>
            <a:ext cx="1080000" cy="64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68000" y="2448000"/>
            <a:ext cx="9360000" cy="79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>
                <a:solidFill>
                  <a:srgbClr val="000000"/>
                </a:solidFill>
                <a:latin typeface="Arial"/>
              </a:rPr>
              <a:t>ChatGPT Business v praxi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8000" y="3276000"/>
            <a:ext cx="9360000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0">
                <a:solidFill>
                  <a:srgbClr val="333333"/>
                </a:solidFill>
                <a:latin typeface="Arial"/>
              </a:rPr>
              <a:t>Úvod do pracovného priestoru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" y="5256000"/>
            <a:ext cx="936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0">
                <a:solidFill>
                  <a:srgbClr val="54595F"/>
                </a:solidFill>
                <a:latin typeface="Arial"/>
              </a:rPr>
              <a:t>Workshop pre Altenova | Rastislav Kozlík, BALANCED HR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8000" y="396000"/>
            <a:ext cx="11256119" cy="684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Arial"/>
              </a:rPr>
              <a:t>Na konci utorka budete mať vlastný otestovaný projekt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1170000"/>
            <a:ext cx="1080000" cy="504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68000" y="6390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54595F"/>
                </a:solidFill>
                <a:latin typeface="Arial"/>
              </a:rPr>
              <a:t>ChatGPT Business v praxi | Altenova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44120" y="6390000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54595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" y="1475999"/>
            <a:ext cx="11256119" cy="44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0">
                <a:solidFill>
                  <a:srgbClr val="333333"/>
                </a:solidFill>
                <a:latin typeface="Arial"/>
              </a:rPr>
              <a:t>Jeden projekt v ChatGPT pre vašu pracovnú úlohu</a:t>
            </a:r>
          </a:p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0">
                <a:solidFill>
                  <a:srgbClr val="333333"/>
                </a:solidFill>
                <a:latin typeface="Arial"/>
              </a:rPr>
              <a:t>Inštrukcie, podklady a vzorové zadania</a:t>
            </a:r>
          </a:p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0">
                <a:solidFill>
                  <a:srgbClr val="333333"/>
                </a:solidFill>
                <a:latin typeface="Arial"/>
              </a:rPr>
              <a:t>Päť testov a opravy podľa ich výsledkov</a:t>
            </a:r>
          </a:p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0">
                <a:solidFill>
                  <a:srgbClr val="333333"/>
                </a:solidFill>
                <a:latin typeface="Arial"/>
              </a:rPr>
              <a:t>Návod, podľa ktorého projekt použije aj kolega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8000" y="396000"/>
            <a:ext cx="11256119" cy="684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Arial"/>
              </a:rPr>
              <a:t>Firemný priestor má vlastné pravidlá a vlastný obsah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1170000"/>
            <a:ext cx="1080000" cy="504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68000" y="6066000"/>
            <a:ext cx="1125611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54595F"/>
                </a:solidFill>
                <a:latin typeface="Arial"/>
              </a:rPr>
              <a:t>Zdroj: snímky priestoru BHR Biznis DEMO, overené 10. 10.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" y="6390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54595F"/>
                </a:solidFill>
                <a:latin typeface="Arial"/>
              </a:rPr>
              <a:t>ChatGPT Business v praxi | Altenova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44120" y="6390000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54595F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1475999"/>
            <a:ext cx="11256119" cy="44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0">
                <a:solidFill>
                  <a:srgbClr val="333333"/>
                </a:solidFill>
                <a:latin typeface="Arial"/>
              </a:rPr>
              <a:t>Každý sa prihlasuje vlastným účtom, nikdy spoločným heslom</a:t>
            </a:r>
          </a:p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0">
                <a:solidFill>
                  <a:srgbClr val="333333"/>
                </a:solidFill>
                <a:latin typeface="Arial"/>
              </a:rPr>
              <a:t>Osobný a firemný priestor sú oddelené</a:t>
            </a:r>
          </a:p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0">
                <a:solidFill>
                  <a:srgbClr val="333333"/>
                </a:solidFill>
                <a:latin typeface="Arial"/>
              </a:rPr>
              <a:t>Názov aktívneho priestoru vidíte v ľavom dolnom rohu</a:t>
            </a:r>
          </a:p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0">
                <a:solidFill>
                  <a:srgbClr val="333333"/>
                </a:solidFill>
                <a:latin typeface="Arial"/>
              </a:rPr>
              <a:t>Na workshope pracujeme v priestore </a:t>
            </a:r>
            <a:r>
              <a:rPr sz="2200" b="1">
                <a:solidFill>
                  <a:srgbClr val="333333"/>
                </a:solidFill>
                <a:latin typeface="Arial"/>
              </a:rPr>
              <a:t>BHR Biznis DEMO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8000" y="396000"/>
            <a:ext cx="11256119" cy="684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Arial"/>
              </a:rPr>
              <a:t>Predplatné, rola a prístup sú tri rôzne veci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1170000"/>
            <a:ext cx="1080000" cy="504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68000" y="6066000"/>
            <a:ext cx="1125611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54595F"/>
                </a:solidFill>
                <a:latin typeface="Arial"/>
              </a:rPr>
              <a:t>Zdroj: OpenAI, Roles and workspace permissions; OpenAI, Business release notes, 29. 9. 2026, overené 10. 10.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" y="6390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54595F"/>
                </a:solidFill>
                <a:latin typeface="Arial"/>
              </a:rPr>
              <a:t>ChatGPT Business v praxi | Altenova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44120" y="6390000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54595F"/>
                </a:solidFill>
                <a:latin typeface="Arial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68000" y="1404000"/>
          <a:ext cx="11232000" cy="180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Pojem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Čo určuje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Príklad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Miesto v Business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Arial"/>
                        </a:rPr>
                        <a:t>Aké funkcie máte k dispozícii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Arial"/>
                        </a:rPr>
                        <a:t>Projekty, agenti, doplnky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Rola v priestore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Arial"/>
                        </a:rPr>
                        <a:t>Čo smiete spravovať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333333"/>
                          </a:solidFill>
                          <a:latin typeface="Arial"/>
                        </a:rPr>
                        <a:t>Rola </a:t>
                      </a:r>
                      <a:r>
                        <a:rPr sz="1800" b="0" dirty="0" err="1">
                          <a:solidFill>
                            <a:srgbClr val="333333"/>
                          </a:solidFill>
                          <a:latin typeface="Arial"/>
                        </a:rPr>
                        <a:t>nerozšíri</a:t>
                      </a:r>
                      <a:r>
                        <a:rPr sz="1800" b="0" dirty="0">
                          <a:solidFill>
                            <a:srgbClr val="333333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333333"/>
                          </a:solidFill>
                          <a:latin typeface="Arial"/>
                        </a:rPr>
                        <a:t>funkcie</a:t>
                      </a:r>
                      <a:r>
                        <a:rPr sz="1800" b="0" dirty="0">
                          <a:solidFill>
                            <a:srgbClr val="333333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333333"/>
                          </a:solidFill>
                          <a:latin typeface="Arial"/>
                        </a:rPr>
                        <a:t>nad</a:t>
                      </a:r>
                      <a:r>
                        <a:rPr sz="1800" b="0" dirty="0">
                          <a:solidFill>
                            <a:srgbClr val="333333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333333"/>
                          </a:solidFill>
                          <a:latin typeface="Arial"/>
                        </a:rPr>
                        <a:t>rámec</a:t>
                      </a:r>
                      <a:r>
                        <a:rPr sz="1800" b="0" dirty="0">
                          <a:solidFill>
                            <a:srgbClr val="333333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333333"/>
                          </a:solidFill>
                          <a:latin typeface="Arial"/>
                        </a:rPr>
                        <a:t>miesta</a:t>
                      </a:r>
                      <a:endParaRPr sz="1800" b="0" dirty="0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54000" marR="108000" marT="43200" marB="43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Prístup k obsahu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Arial"/>
                        </a:rPr>
                        <a:t>Čo konkrétne vidíte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333333"/>
                          </a:solidFill>
                          <a:latin typeface="Arial"/>
                        </a:rPr>
                        <a:t>Členstvo</a:t>
                      </a:r>
                      <a:r>
                        <a:rPr sz="1800" b="0" dirty="0">
                          <a:solidFill>
                            <a:srgbClr val="333333"/>
                          </a:solidFill>
                          <a:latin typeface="Arial"/>
                        </a:rPr>
                        <a:t> v </a:t>
                      </a:r>
                      <a:r>
                        <a:rPr sz="1800" b="0" dirty="0" err="1">
                          <a:solidFill>
                            <a:srgbClr val="333333"/>
                          </a:solidFill>
                          <a:latin typeface="Arial"/>
                        </a:rPr>
                        <a:t>tíme</a:t>
                      </a:r>
                      <a:r>
                        <a:rPr sz="1800" b="0" dirty="0">
                          <a:solidFill>
                            <a:srgbClr val="333333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333333"/>
                          </a:solidFill>
                          <a:latin typeface="Arial"/>
                        </a:rPr>
                        <a:t>nesprístupní</a:t>
                      </a:r>
                      <a:r>
                        <a:rPr sz="1800" b="0" dirty="0">
                          <a:solidFill>
                            <a:srgbClr val="333333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333333"/>
                          </a:solidFill>
                          <a:latin typeface="Arial"/>
                        </a:rPr>
                        <a:t>osobné</a:t>
                      </a:r>
                      <a:r>
                        <a:rPr sz="1800" b="0" dirty="0">
                          <a:solidFill>
                            <a:srgbClr val="333333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333333"/>
                          </a:solidFill>
                          <a:latin typeface="Arial"/>
                        </a:rPr>
                        <a:t>čety</a:t>
                      </a:r>
                      <a:endParaRPr sz="1800" b="0" dirty="0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54000" marR="108000" marT="43200" marB="43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8000" y="396000"/>
            <a:ext cx="11256119" cy="684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Arial"/>
              </a:rPr>
              <a:t>Owner, Admin a Member majú rozdielne oprávnenia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1170000"/>
            <a:ext cx="1080000" cy="504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68000" y="6066000"/>
            <a:ext cx="1125611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54595F"/>
                </a:solidFill>
                <a:latin typeface="Arial"/>
              </a:rPr>
              <a:t>Zdroj: OpenAI, Roles and workspace permissions; OpenAI, Business release notes (11. 6. 2026, 1. 10. 2026), overené 10. 10.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" y="6390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54595F"/>
                </a:solidFill>
                <a:latin typeface="Arial"/>
              </a:rPr>
              <a:t>ChatGPT Business v praxi | Altenova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44120" y="6390000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54595F"/>
                </a:solidFill>
                <a:latin typeface="Arial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68000" y="1404000"/>
          <a:ext cx="11231999" cy="225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32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5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Oprávnenie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Admin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Member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Nastavenia celého priestoru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Arial"/>
                        </a:rPr>
                        <a:t>áno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Arial"/>
                        </a:rPr>
                        <a:t>čiastočne*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Arial"/>
                        </a:rPr>
                        <a:t>nie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Zapínanie funkcií (Permissions &amp; Roles)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Arial"/>
                        </a:rPr>
                        <a:t>áno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Arial"/>
                        </a:rPr>
                        <a:t>áno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Arial"/>
                        </a:rPr>
                        <a:t>nie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Správa doplnkov v Admin console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Arial"/>
                        </a:rPr>
                        <a:t>áno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Arial"/>
                        </a:rPr>
                        <a:t>áno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Arial"/>
                        </a:rPr>
                        <a:t>nie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Používanie funkcií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Arial"/>
                        </a:rPr>
                        <a:t>podľa miesta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Arial"/>
                        </a:rPr>
                        <a:t>podľa miesta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Arial"/>
                        </a:rPr>
                        <a:t>podľa miesta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68000" y="4014000"/>
            <a:ext cx="11256119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0">
                <a:solidFill>
                  <a:srgbClr val="54595F"/>
                </a:solidFill>
                <a:latin typeface="Arial"/>
              </a:rPr>
              <a:t>* Rozsah práv Admin dokumentácia nevymenúva – overíme v priestore. Na workshope ste Member.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8000" y="396000"/>
            <a:ext cx="11256119" cy="684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Arial"/>
              </a:rPr>
              <a:t>Ľavý panel: kde čo nájdete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1170000"/>
            <a:ext cx="1080000" cy="504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68000" y="6066000"/>
            <a:ext cx="1125611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54595F"/>
                </a:solidFill>
                <a:latin typeface="Arial"/>
              </a:rPr>
              <a:t>Zdroj: snímky priestoru BHR Biznis DEMO, overené 10. 10.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" y="6390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54595F"/>
                </a:solidFill>
                <a:latin typeface="Arial"/>
              </a:rPr>
              <a:t>ChatGPT Business v praxi | Altenova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44120" y="6390000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54595F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1475999"/>
            <a:ext cx="7020000" cy="44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1">
                <a:solidFill>
                  <a:srgbClr val="333333"/>
                </a:solidFill>
                <a:latin typeface="Arial"/>
              </a:rPr>
              <a:t>Nový čet</a:t>
            </a:r>
            <a:r>
              <a:rPr sz="2200" b="0">
                <a:solidFill>
                  <a:srgbClr val="333333"/>
                </a:solidFill>
                <a:latin typeface="Arial"/>
              </a:rPr>
              <a:t> – jednorazová otázka</a:t>
            </a:r>
          </a:p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1">
                <a:solidFill>
                  <a:srgbClr val="333333"/>
                </a:solidFill>
                <a:latin typeface="Arial"/>
              </a:rPr>
              <a:t>Projekty</a:t>
            </a:r>
            <a:r>
              <a:rPr sz="2200" b="0">
                <a:solidFill>
                  <a:srgbClr val="333333"/>
                </a:solidFill>
                <a:latin typeface="Arial"/>
              </a:rPr>
              <a:t> – opakovaná práca s podkladmi</a:t>
            </a:r>
          </a:p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1">
                <a:solidFill>
                  <a:srgbClr val="333333"/>
                </a:solidFill>
                <a:latin typeface="Arial"/>
              </a:rPr>
              <a:t>Naplánované</a:t>
            </a:r>
            <a:r>
              <a:rPr sz="2200" b="0">
                <a:solidFill>
                  <a:srgbClr val="333333"/>
                </a:solidFill>
                <a:latin typeface="Arial"/>
              </a:rPr>
              <a:t> – úlohy, ktoré bežia podľa plánu</a:t>
            </a:r>
          </a:p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1">
                <a:solidFill>
                  <a:srgbClr val="333333"/>
                </a:solidFill>
                <a:latin typeface="Arial"/>
              </a:rPr>
              <a:t>Agenti</a:t>
            </a:r>
            <a:r>
              <a:rPr sz="2200" b="0">
                <a:solidFill>
                  <a:srgbClr val="333333"/>
                </a:solidFill>
                <a:latin typeface="Arial"/>
              </a:rPr>
              <a:t> – nastavené postupy pre tím</a:t>
            </a:r>
          </a:p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1">
                <a:solidFill>
                  <a:srgbClr val="333333"/>
                </a:solidFill>
                <a:latin typeface="Arial"/>
              </a:rPr>
              <a:t>Doplnky</a:t>
            </a:r>
            <a:r>
              <a:rPr sz="2200" b="0">
                <a:solidFill>
                  <a:srgbClr val="333333"/>
                </a:solidFill>
                <a:latin typeface="Arial"/>
              </a:rPr>
              <a:t> – prepojenie s aplikáciami</a:t>
            </a:r>
          </a:p>
        </p:txBody>
      </p:sp>
      <p:pic>
        <p:nvPicPr>
          <p:cNvPr id="8" name="Picture 7" descr="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2330" y="1475999"/>
            <a:ext cx="1931789" cy="446400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8000" y="396000"/>
            <a:ext cx="11256119" cy="684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Arial"/>
              </a:rPr>
              <a:t>Web a desktopová aplikácia sa v niečom líšia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1170000"/>
            <a:ext cx="1080000" cy="504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68000" y="6066000"/>
            <a:ext cx="1125611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54595F"/>
                </a:solidFill>
                <a:latin typeface="Arial"/>
              </a:rPr>
              <a:t>Zdroj: OpenAI, Use ChatGPT, overené 10. 10.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" y="6390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54595F"/>
                </a:solidFill>
                <a:latin typeface="Arial"/>
              </a:rPr>
              <a:t>ChatGPT Business v praxi | Altenova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44120" y="6390000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54595F"/>
                </a:solidFill>
                <a:latin typeface="Arial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1475999"/>
            <a:ext cx="5340059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Arial"/>
              </a:rPr>
              <a:t>Web (chatgpt.com)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1944000"/>
            <a:ext cx="5340059" cy="39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0">
                <a:solidFill>
                  <a:srgbClr val="333333"/>
                </a:solidFill>
                <a:latin typeface="Arial"/>
              </a:rPr>
              <a:t>Čety, projekty, súbory a agenti</a:t>
            </a:r>
          </a:p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0">
                <a:solidFill>
                  <a:srgbClr val="333333"/>
                </a:solidFill>
                <a:latin typeface="Arial"/>
              </a:rPr>
              <a:t>Úlohy v režime Work bežia v cloude</a:t>
            </a:r>
          </a:p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0">
                <a:solidFill>
                  <a:srgbClr val="333333"/>
                </a:solidFill>
                <a:latin typeface="Arial"/>
              </a:rPr>
              <a:t>Rovnaké prostredie pre všetkých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4060" y="1475999"/>
            <a:ext cx="5340059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Arial"/>
              </a:rPr>
              <a:t>Desktopová aplikácia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4060" y="1944000"/>
            <a:ext cx="5340059" cy="39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0">
                <a:solidFill>
                  <a:srgbClr val="333333"/>
                </a:solidFill>
                <a:latin typeface="Arial"/>
              </a:rPr>
              <a:t>Prístup k lokálnym priečinkom, ak je povolený</a:t>
            </a:r>
          </a:p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0">
                <a:solidFill>
                  <a:srgbClr val="333333"/>
                </a:solidFill>
                <a:latin typeface="Arial"/>
              </a:rPr>
              <a:t>Hlas a ovládanie počítača, ak sú dostupné</a:t>
            </a:r>
          </a:p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0">
                <a:solidFill>
                  <a:srgbClr val="333333"/>
                </a:solidFill>
                <a:latin typeface="Arial"/>
              </a:rPr>
              <a:t>Úloha v cloude pokračuje aj po zatvorení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8000" y="396000"/>
            <a:ext cx="11256119" cy="684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Arial"/>
              </a:rPr>
              <a:t>Čo zvládne ChatGPT s vašimi podkladmi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1170000"/>
            <a:ext cx="1080000" cy="504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68000" y="6066000"/>
            <a:ext cx="1125611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54595F"/>
                </a:solidFill>
                <a:latin typeface="Arial"/>
              </a:rPr>
              <a:t>Zdroj: OpenAI, Use ChatGPT, overené 10. 10.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" y="6390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54595F"/>
                </a:solidFill>
                <a:latin typeface="Arial"/>
              </a:rPr>
              <a:t>ChatGPT Business v praxi | Altenova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44120" y="6390000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54595F"/>
                </a:solidFill>
                <a:latin typeface="Arial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6231120"/>
              </p:ext>
            </p:extLst>
          </p:nvPr>
        </p:nvGraphicFramePr>
        <p:xfrm>
          <a:off x="468000" y="1404000"/>
          <a:ext cx="11232000" cy="270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0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Úloha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Príklad z vašej práce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Hľadať v PDF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333333"/>
                          </a:solidFill>
                          <a:latin typeface="Arial"/>
                        </a:rPr>
                        <a:t>Kde</a:t>
                      </a:r>
                      <a:r>
                        <a:rPr sz="1800" b="0" dirty="0">
                          <a:solidFill>
                            <a:srgbClr val="333333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333333"/>
                          </a:solidFill>
                          <a:latin typeface="Arial"/>
                        </a:rPr>
                        <a:t>predpis</a:t>
                      </a:r>
                      <a:r>
                        <a:rPr sz="1800" b="0" dirty="0">
                          <a:solidFill>
                            <a:srgbClr val="333333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333333"/>
                          </a:solidFill>
                          <a:latin typeface="Arial"/>
                        </a:rPr>
                        <a:t>rieši</a:t>
                      </a:r>
                      <a:r>
                        <a:rPr sz="1800" b="0" dirty="0">
                          <a:solidFill>
                            <a:srgbClr val="333333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333333"/>
                          </a:solidFill>
                          <a:latin typeface="Arial"/>
                        </a:rPr>
                        <a:t>umiestnenie</a:t>
                      </a:r>
                      <a:r>
                        <a:rPr sz="1800" b="0" dirty="0">
                          <a:solidFill>
                            <a:srgbClr val="333333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333333"/>
                          </a:solidFill>
                          <a:latin typeface="Arial"/>
                        </a:rPr>
                        <a:t>hlav</a:t>
                      </a:r>
                      <a:r>
                        <a:rPr lang="sk-SK" sz="1800" b="0" dirty="0" err="1">
                          <a:solidFill>
                            <a:srgbClr val="333333"/>
                          </a:solidFill>
                          <a:latin typeface="Arial"/>
                        </a:rPr>
                        <a:t>ičiek</a:t>
                      </a:r>
                      <a:r>
                        <a:rPr sz="1800" b="0" dirty="0">
                          <a:solidFill>
                            <a:srgbClr val="333333"/>
                          </a:solidFill>
                          <a:latin typeface="Arial"/>
                        </a:rPr>
                        <a:t>? S </a:t>
                      </a:r>
                      <a:r>
                        <a:rPr sz="1800" b="0" dirty="0" err="1">
                          <a:solidFill>
                            <a:srgbClr val="333333"/>
                          </a:solidFill>
                          <a:latin typeface="Arial"/>
                        </a:rPr>
                        <a:t>článkom</a:t>
                      </a:r>
                      <a:r>
                        <a:rPr sz="1800" b="0" dirty="0">
                          <a:solidFill>
                            <a:srgbClr val="333333"/>
                          </a:solidFill>
                          <a:latin typeface="Arial"/>
                        </a:rPr>
                        <a:t> a </a:t>
                      </a:r>
                      <a:r>
                        <a:rPr sz="1800" b="0" dirty="0" err="1">
                          <a:solidFill>
                            <a:srgbClr val="333333"/>
                          </a:solidFill>
                          <a:latin typeface="Arial"/>
                        </a:rPr>
                        <a:t>stranou</a:t>
                      </a:r>
                      <a:r>
                        <a:rPr sz="1800" b="0" dirty="0">
                          <a:solidFill>
                            <a:srgbClr val="333333"/>
                          </a:solidFill>
                          <a:latin typeface="Arial"/>
                        </a:rPr>
                        <a:t>.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Porovnať dokumenty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333333"/>
                          </a:solidFill>
                          <a:latin typeface="Arial"/>
                        </a:rPr>
                        <a:t>Rozdiely</a:t>
                      </a:r>
                      <a:r>
                        <a:rPr sz="1800" b="0" dirty="0">
                          <a:solidFill>
                            <a:srgbClr val="333333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333333"/>
                          </a:solidFill>
                          <a:latin typeface="Arial"/>
                        </a:rPr>
                        <a:t>dvoch</a:t>
                      </a:r>
                      <a:r>
                        <a:rPr sz="1800" b="0" dirty="0">
                          <a:solidFill>
                            <a:srgbClr val="333333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333333"/>
                          </a:solidFill>
                          <a:latin typeface="Arial"/>
                        </a:rPr>
                        <a:t>vydaní</a:t>
                      </a:r>
                      <a:r>
                        <a:rPr sz="1800" b="0" dirty="0">
                          <a:solidFill>
                            <a:srgbClr val="333333"/>
                          </a:solidFill>
                          <a:latin typeface="Arial"/>
                        </a:rPr>
                        <a:t> v </a:t>
                      </a:r>
                      <a:r>
                        <a:rPr sz="1800" b="0" dirty="0" err="1">
                          <a:solidFill>
                            <a:srgbClr val="333333"/>
                          </a:solidFill>
                          <a:latin typeface="Arial"/>
                        </a:rPr>
                        <a:t>jednej</a:t>
                      </a:r>
                      <a:r>
                        <a:rPr sz="1800" b="0" dirty="0">
                          <a:solidFill>
                            <a:srgbClr val="333333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333333"/>
                          </a:solidFill>
                          <a:latin typeface="Arial"/>
                        </a:rPr>
                        <a:t>vymedzenej</a:t>
                      </a:r>
                      <a:r>
                        <a:rPr sz="1800" b="0" dirty="0">
                          <a:solidFill>
                            <a:srgbClr val="333333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333333"/>
                          </a:solidFill>
                          <a:latin typeface="Arial"/>
                        </a:rPr>
                        <a:t>kapitole</a:t>
                      </a:r>
                      <a:endParaRPr sz="1800" b="0" dirty="0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54000" marR="108000" marT="43200" marB="43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Skontrolovať tabuľku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Arial"/>
                        </a:rPr>
                        <a:t>Chýbajúce jednotky a duplicity vo výkaze výmer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Napísať návrh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Arial"/>
                        </a:rPr>
                        <a:t>Technická správa podľa šablóny s označením chýbajúcich údajov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Spracovať poradu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333333"/>
                          </a:solidFill>
                          <a:latin typeface="Arial"/>
                        </a:rPr>
                        <a:t>Zápis</a:t>
                      </a:r>
                      <a:r>
                        <a:rPr sz="1800" b="0" dirty="0">
                          <a:solidFill>
                            <a:srgbClr val="333333"/>
                          </a:solidFill>
                          <a:latin typeface="Arial"/>
                        </a:rPr>
                        <a:t> s </a:t>
                      </a:r>
                      <a:r>
                        <a:rPr sz="1800" b="0" dirty="0" err="1">
                          <a:solidFill>
                            <a:srgbClr val="333333"/>
                          </a:solidFill>
                          <a:latin typeface="Arial"/>
                        </a:rPr>
                        <a:t>úlohami</a:t>
                      </a:r>
                      <a:r>
                        <a:rPr sz="1800" b="0" dirty="0">
                          <a:solidFill>
                            <a:srgbClr val="333333"/>
                          </a:solidFill>
                          <a:latin typeface="Arial"/>
                        </a:rPr>
                        <a:t>, </a:t>
                      </a:r>
                      <a:r>
                        <a:rPr sz="1800" b="0" dirty="0" err="1">
                          <a:solidFill>
                            <a:srgbClr val="333333"/>
                          </a:solidFill>
                          <a:latin typeface="Arial"/>
                        </a:rPr>
                        <a:t>zodpovednými</a:t>
                      </a:r>
                      <a:r>
                        <a:rPr sz="1800" b="0" dirty="0">
                          <a:solidFill>
                            <a:srgbClr val="333333"/>
                          </a:solidFill>
                          <a:latin typeface="Arial"/>
                        </a:rPr>
                        <a:t> a </a:t>
                      </a:r>
                      <a:r>
                        <a:rPr sz="1800" b="0" dirty="0" err="1">
                          <a:solidFill>
                            <a:srgbClr val="333333"/>
                          </a:solidFill>
                          <a:latin typeface="Arial"/>
                        </a:rPr>
                        <a:t>termínmi</a:t>
                      </a:r>
                      <a:r>
                        <a:rPr sz="1800" b="0" dirty="0">
                          <a:solidFill>
                            <a:srgbClr val="333333"/>
                          </a:solidFill>
                          <a:latin typeface="Arial"/>
                        </a:rPr>
                        <a:t> z </a:t>
                      </a:r>
                      <a:r>
                        <a:rPr sz="1800" b="0" dirty="0" err="1">
                          <a:solidFill>
                            <a:srgbClr val="333333"/>
                          </a:solidFill>
                          <a:latin typeface="Arial"/>
                        </a:rPr>
                        <a:t>prepisu</a:t>
                      </a:r>
                      <a:endParaRPr sz="1800" b="0" dirty="0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54000" marR="108000" marT="43200" marB="43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8000" y="396000"/>
            <a:ext cx="11256119" cy="684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Arial"/>
              </a:rPr>
              <a:t>Návrh výstupu a vykonanie akcie sú dve rôzne veci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1170000"/>
            <a:ext cx="1080000" cy="504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68000" y="6066000"/>
            <a:ext cx="1125611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54595F"/>
                </a:solidFill>
                <a:latin typeface="Arial"/>
              </a:rPr>
              <a:t>Zdroj: OpenAI Help, Workspace Agents; OpenAI, Apps and connectors, overené 10. 10.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" y="6390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54595F"/>
                </a:solidFill>
                <a:latin typeface="Arial"/>
              </a:rPr>
              <a:t>ChatGPT Business v praxi | Altenova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44120" y="6390000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54595F"/>
                </a:solidFill>
                <a:latin typeface="Arial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1475999"/>
            <a:ext cx="5340059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Arial"/>
              </a:rPr>
              <a:t>Návrh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1944000"/>
            <a:ext cx="5340059" cy="39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0">
                <a:solidFill>
                  <a:srgbClr val="333333"/>
                </a:solidFill>
                <a:latin typeface="Arial"/>
              </a:rPr>
              <a:t>ChatGPT pripraví text, tabuľku alebo pripomienky</a:t>
            </a:r>
          </a:p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0">
                <a:solidFill>
                  <a:srgbClr val="333333"/>
                </a:solidFill>
                <a:latin typeface="Arial"/>
              </a:rPr>
              <a:t>O ďalšom kroku rozhodujete vy</a:t>
            </a:r>
          </a:p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0">
                <a:solidFill>
                  <a:srgbClr val="333333"/>
                </a:solidFill>
                <a:latin typeface="Arial"/>
              </a:rPr>
              <a:t>Na tom stavia celý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4060" y="1475999"/>
            <a:ext cx="5340059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Arial"/>
              </a:rPr>
              <a:t>Akcia v inom systéme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4060" y="1944000"/>
            <a:ext cx="5340059" cy="39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0">
                <a:solidFill>
                  <a:srgbClr val="333333"/>
                </a:solidFill>
                <a:latin typeface="Arial"/>
              </a:rPr>
              <a:t>Cez doplnok niečo odošle, vytvorí alebo zapíše</a:t>
            </a:r>
          </a:p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0">
                <a:solidFill>
                  <a:srgbClr val="333333"/>
                </a:solidFill>
                <a:latin typeface="Arial"/>
              </a:rPr>
              <a:t>Zápisové akcie agenta sa predvolene pýtajú</a:t>
            </a:r>
          </a:p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0">
                <a:solidFill>
                  <a:srgbClr val="333333"/>
                </a:solidFill>
                <a:latin typeface="Arial"/>
              </a:rPr>
              <a:t>Zapína ich správca, na workshope iba ukážka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8000" y="396000"/>
            <a:ext cx="11256119" cy="684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Arial"/>
              </a:rPr>
              <a:t>Režim, model a nástroj vyberajte podľa úlohy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1170000"/>
            <a:ext cx="1080000" cy="504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68000" y="6066000"/>
            <a:ext cx="1125611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54595F"/>
                </a:solidFill>
                <a:latin typeface="Arial"/>
              </a:rPr>
              <a:t>Zdroj: OpenAI, Use ChatGPT, overené 10. 10.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" y="6390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54595F"/>
                </a:solidFill>
                <a:latin typeface="Arial"/>
              </a:rPr>
              <a:t>ChatGPT Business v praxi | Altenova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44120" y="6390000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54595F"/>
                </a:solidFill>
                <a:latin typeface="Arial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712034"/>
              </p:ext>
            </p:extLst>
          </p:nvPr>
        </p:nvGraphicFramePr>
        <p:xfrm>
          <a:off x="468000" y="1404000"/>
          <a:ext cx="11232000" cy="34156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Voľba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Kedy ju použiť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Príklad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Čet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Arial"/>
                        </a:rPr>
                        <a:t>Otázka, úprava textu, krátke zhrnutie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Arial"/>
                        </a:rPr>
                        <a:t>Prepíš odsek technickej správy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Work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Arial"/>
                        </a:rPr>
                        <a:t>Väčšia úloha s hotovým výstupom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Arial"/>
                        </a:rPr>
                        <a:t>Z troch podkladov priprav podklad k ponuke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Model</a:t>
                      </a:r>
                      <a:r>
                        <a:rPr lang="sk-SK" sz="1800" b="1">
                          <a:solidFill>
                            <a:srgbClr val="000000"/>
                          </a:solidFill>
                          <a:latin typeface="Arial"/>
                        </a:rPr>
                        <a:t> /</a:t>
                      </a:r>
                      <a:r>
                        <a:rPr lang="sk-SK" sz="1800" b="1" err="1">
                          <a:solidFill>
                            <a:srgbClr val="000000"/>
                          </a:solidFill>
                          <a:latin typeface="Arial"/>
                        </a:rPr>
                        <a:t>GPT´s</a:t>
                      </a:r>
                      <a:endParaRPr sz="18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Arial"/>
                        </a:rPr>
                        <a:t>Rýchly na bežné úlohy, výkonnejší na zložité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Arial"/>
                        </a:rPr>
                        <a:t>Porovnanie dvoch vydaní predpisu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lang="sk-SK" sz="1800" b="1">
                          <a:solidFill>
                            <a:srgbClr val="000000"/>
                          </a:solidFill>
                          <a:latin typeface="Arial"/>
                        </a:rPr>
                        <a:t>Nástroj/funkcia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Arial"/>
                        </a:rPr>
                        <a:t>Web, analýza súborov, tvorba dokumentu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 err="1">
                          <a:solidFill>
                            <a:srgbClr val="333333"/>
                          </a:solidFill>
                          <a:latin typeface="Arial"/>
                        </a:rPr>
                        <a:t>Doplnenie</a:t>
                      </a:r>
                      <a:r>
                        <a:rPr sz="1800" b="0">
                          <a:solidFill>
                            <a:srgbClr val="333333"/>
                          </a:solidFill>
                          <a:latin typeface="Arial"/>
                        </a:rPr>
                        <a:t> </a:t>
                      </a:r>
                      <a:r>
                        <a:rPr sz="1800" b="0" err="1">
                          <a:solidFill>
                            <a:srgbClr val="333333"/>
                          </a:solidFill>
                          <a:latin typeface="Arial"/>
                        </a:rPr>
                        <a:t>verejnej</a:t>
                      </a:r>
                      <a:r>
                        <a:rPr sz="1800" b="0">
                          <a:solidFill>
                            <a:srgbClr val="333333"/>
                          </a:solidFill>
                          <a:latin typeface="Arial"/>
                        </a:rPr>
                        <a:t> </a:t>
                      </a:r>
                      <a:r>
                        <a:rPr sz="1800" b="0" err="1">
                          <a:solidFill>
                            <a:srgbClr val="333333"/>
                          </a:solidFill>
                          <a:latin typeface="Arial"/>
                        </a:rPr>
                        <a:t>informácie</a:t>
                      </a:r>
                      <a:r>
                        <a:rPr sz="1800" b="0">
                          <a:solidFill>
                            <a:srgbClr val="333333"/>
                          </a:solidFill>
                          <a:latin typeface="Arial"/>
                        </a:rPr>
                        <a:t> o </a:t>
                      </a:r>
                      <a:r>
                        <a:rPr sz="1800" b="0" err="1">
                          <a:solidFill>
                            <a:srgbClr val="333333"/>
                          </a:solidFill>
                          <a:latin typeface="Arial"/>
                        </a:rPr>
                        <a:t>výrobcovi</a:t>
                      </a:r>
                      <a:endParaRPr sz="1800" b="0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54000" marR="108000" marT="43200" marB="43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5528">
                <a:tc>
                  <a:txBody>
                    <a:bodyPr/>
                    <a:lstStyle/>
                    <a:p>
                      <a:r>
                        <a:rPr lang="sk-SK" sz="1800" b="1">
                          <a:solidFill>
                            <a:srgbClr val="000000"/>
                          </a:solidFill>
                          <a:latin typeface="Arial"/>
                        </a:rPr>
                        <a:t>Schopnosť (Skill)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Arial"/>
                        </a:rPr>
                        <a:t>Pokyny, ako vykonať určitý postup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 err="1">
                          <a:solidFill>
                            <a:srgbClr val="333333"/>
                          </a:solidFill>
                          <a:latin typeface="Arial"/>
                        </a:rPr>
                        <a:t>Spracuj zápis podľa firemnej šablóny, pri úlohách uveď zodpovedných a termíny</a:t>
                      </a:r>
                      <a:endParaRPr sz="1800" b="0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54000" marR="108000" marT="43200" marB="43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944913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8000" y="396000"/>
            <a:ext cx="11256119" cy="684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Arial"/>
              </a:rPr>
              <a:t>Projekt drží pokope pravidlá, podklady a rozhovory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1170000"/>
            <a:ext cx="1080000" cy="504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68000" y="6066000"/>
            <a:ext cx="1125611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54595F"/>
                </a:solidFill>
                <a:latin typeface="Arial"/>
              </a:rPr>
              <a:t>Zdroj: OpenAI, Use ChatGPT; OpenAI, Business release notes, 25. 2. 2026, overené 10. 10.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" y="6390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54595F"/>
                </a:solidFill>
                <a:latin typeface="Arial"/>
              </a:rPr>
              <a:t>ChatGPT Business v praxi | Altenova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44120" y="6390000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54595F"/>
                </a:solidFill>
                <a:latin typeface="Arial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1475999"/>
            <a:ext cx="11256119" cy="44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1">
                <a:solidFill>
                  <a:srgbClr val="333333"/>
                </a:solidFill>
                <a:latin typeface="Arial"/>
              </a:rPr>
              <a:t>Inštrukcie</a:t>
            </a:r>
            <a:r>
              <a:rPr sz="2200" b="0">
                <a:solidFill>
                  <a:srgbClr val="333333"/>
                </a:solidFill>
                <a:latin typeface="Arial"/>
              </a:rPr>
              <a:t> – ako má ChatGPT v projekte pracovať</a:t>
            </a:r>
          </a:p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1">
                <a:solidFill>
                  <a:srgbClr val="333333"/>
                </a:solidFill>
                <a:latin typeface="Arial"/>
              </a:rPr>
              <a:t>Zdroje</a:t>
            </a:r>
            <a:r>
              <a:rPr sz="2200" b="0">
                <a:solidFill>
                  <a:srgbClr val="333333"/>
                </a:solidFill>
                <a:latin typeface="Arial"/>
              </a:rPr>
              <a:t> – súbory a texty, z ktorých vychádza</a:t>
            </a:r>
          </a:p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1">
                <a:solidFill>
                  <a:srgbClr val="333333"/>
                </a:solidFill>
                <a:latin typeface="Arial"/>
              </a:rPr>
              <a:t>Rozhovory</a:t>
            </a:r>
            <a:r>
              <a:rPr sz="2200" b="0">
                <a:solidFill>
                  <a:srgbClr val="333333"/>
                </a:solidFill>
                <a:latin typeface="Arial"/>
              </a:rPr>
              <a:t> – pre každý výstup samostatný</a:t>
            </a:r>
          </a:p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0">
                <a:solidFill>
                  <a:srgbClr val="333333"/>
                </a:solidFill>
                <a:latin typeface="Arial"/>
              </a:rPr>
              <a:t>Model nemusí správne použiť každý nahraný súbor – kontrolujte zdroj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8000" y="618335"/>
            <a:ext cx="11256119" cy="461665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sk-SK" sz="3000" b="1" dirty="0">
                <a:solidFill>
                  <a:srgbClr val="000000"/>
                </a:solidFill>
                <a:latin typeface="Arial"/>
              </a:rPr>
              <a:t>Live</a:t>
            </a:r>
            <a:r>
              <a:rPr sz="3000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000000"/>
                </a:solidFill>
                <a:latin typeface="Arial"/>
              </a:rPr>
              <a:t>ukážka</a:t>
            </a:r>
            <a:r>
              <a:rPr sz="3000" b="1" dirty="0">
                <a:solidFill>
                  <a:srgbClr val="000000"/>
                </a:solidFill>
                <a:latin typeface="Arial"/>
              </a:rPr>
              <a:t>: </a:t>
            </a:r>
            <a:r>
              <a:rPr sz="3000" b="1" dirty="0" err="1">
                <a:solidFill>
                  <a:srgbClr val="000000"/>
                </a:solidFill>
                <a:latin typeface="Arial"/>
              </a:rPr>
              <a:t>projekt</a:t>
            </a:r>
            <a:r>
              <a:rPr sz="3000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000000"/>
                </a:solidFill>
                <a:latin typeface="Arial"/>
              </a:rPr>
              <a:t>Modelová</a:t>
            </a:r>
            <a:r>
              <a:rPr sz="3000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000000"/>
                </a:solidFill>
                <a:latin typeface="Arial"/>
              </a:rPr>
              <a:t>zákazka</a:t>
            </a:r>
            <a:endParaRPr sz="30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68000" y="1170000"/>
            <a:ext cx="1080000" cy="504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68000" y="6390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54595F"/>
                </a:solidFill>
                <a:latin typeface="Arial"/>
              </a:rPr>
              <a:t>ChatGPT Business v praxi | Altenova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44120" y="6390000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54595F"/>
                </a:solidFill>
                <a:latin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" y="1475999"/>
            <a:ext cx="503999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>
                <a:solidFill>
                  <a:srgbClr val="E60000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4000" y="1530000"/>
            <a:ext cx="10680119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0">
                <a:solidFill>
                  <a:srgbClr val="333333"/>
                </a:solidFill>
                <a:latin typeface="Arial"/>
              </a:rPr>
              <a:t>Založiť projekt „Modelová zákazka – skladová hala“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2286000"/>
            <a:ext cx="503999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>
                <a:solidFill>
                  <a:srgbClr val="E6000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4000" y="2340000"/>
            <a:ext cx="10680119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0">
                <a:solidFill>
                  <a:srgbClr val="333333"/>
                </a:solidFill>
                <a:latin typeface="Arial"/>
              </a:rPr>
              <a:t>Vložiť inštrukcie projektu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3096000"/>
            <a:ext cx="503999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>
                <a:solidFill>
                  <a:srgbClr val="E60000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4000" y="3150000"/>
            <a:ext cx="10680119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0">
                <a:solidFill>
                  <a:srgbClr val="333333"/>
                </a:solidFill>
                <a:latin typeface="Arial"/>
              </a:rPr>
              <a:t>Nahrať modelové zadanie zákazky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3906000"/>
            <a:ext cx="503999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>
                <a:solidFill>
                  <a:srgbClr val="E60000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4000" y="3960000"/>
            <a:ext cx="10680119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0">
                <a:solidFill>
                  <a:srgbClr val="333333"/>
                </a:solidFill>
                <a:latin typeface="Arial"/>
              </a:rPr>
              <a:t>Položiť otázku a skontrolovať, z čoho odpoveď vychádza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8000" y="396000"/>
            <a:ext cx="11256119" cy="684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Arial"/>
              </a:rPr>
              <a:t>Jedna úloha, štyri spôsoby: zápis z porady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1170000"/>
            <a:ext cx="1080000" cy="504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68000" y="6066000"/>
            <a:ext cx="1125611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54595F"/>
                </a:solidFill>
                <a:latin typeface="Arial"/>
              </a:rPr>
              <a:t>Zdroj: OpenAI, Business release notes, 11. 9. 2026; OpenAI Help, Workspace Agents, overené 10. 10.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" y="6390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54595F"/>
                </a:solidFill>
                <a:latin typeface="Arial"/>
              </a:rPr>
              <a:t>ChatGPT Business v praxi | Altenova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44120" y="6390000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54595F"/>
                </a:solidFill>
                <a:latin typeface="Arial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75781"/>
              </p:ext>
            </p:extLst>
          </p:nvPr>
        </p:nvGraphicFramePr>
        <p:xfrm>
          <a:off x="468000" y="1404000"/>
          <a:ext cx="11232000" cy="225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Spôsob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Čo to je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Kedy ho použiť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Čet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Arial"/>
                        </a:rPr>
                        <a:t>Jednorazová otázka s prepisom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Arial"/>
                        </a:rPr>
                        <a:t>Občasný zápis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Projekt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Arial"/>
                        </a:rPr>
                        <a:t>Inštrukcie, šablóna zápisu a rozhovory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Arial"/>
                        </a:rPr>
                        <a:t>Zápisy z jednej zákazky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Agent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Arial"/>
                        </a:rPr>
                        <a:t>Nastavený postup, môže bežať podľa plánu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Arial"/>
                        </a:rPr>
                        <a:t>Pravidelné zápisy pre tím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sz="1800" b="1" dirty="0" err="1">
                          <a:solidFill>
                            <a:srgbClr val="000000"/>
                          </a:solidFill>
                          <a:latin typeface="Arial"/>
                        </a:rPr>
                        <a:t>Schopnosť</a:t>
                      </a:r>
                      <a:r>
                        <a:rPr lang="sk-SK" sz="1800" b="1" dirty="0">
                          <a:solidFill>
                            <a:srgbClr val="000000"/>
                          </a:solidFill>
                          <a:latin typeface="Arial"/>
                        </a:rPr>
                        <a:t> /</a:t>
                      </a:r>
                      <a:r>
                        <a:rPr lang="sk-SK" sz="1800" b="1" dirty="0" err="1">
                          <a:solidFill>
                            <a:srgbClr val="000000"/>
                          </a:solidFill>
                          <a:latin typeface="Arial"/>
                        </a:rPr>
                        <a:t>Skill</a:t>
                      </a:r>
                      <a:endParaRPr sz="18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Arial"/>
                        </a:rPr>
                        <a:t>Opakovateľný postup, ktorý ChatGPT použije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333333"/>
                          </a:solidFill>
                          <a:latin typeface="Arial"/>
                        </a:rPr>
                        <a:t>Jednotný</a:t>
                      </a:r>
                      <a:r>
                        <a:rPr sz="1800" b="0" dirty="0">
                          <a:solidFill>
                            <a:srgbClr val="333333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333333"/>
                          </a:solidFill>
                          <a:latin typeface="Arial"/>
                        </a:rPr>
                        <a:t>zápis</a:t>
                      </a:r>
                      <a:r>
                        <a:rPr sz="1800" b="0" dirty="0">
                          <a:solidFill>
                            <a:srgbClr val="333333"/>
                          </a:solidFill>
                          <a:latin typeface="Arial"/>
                        </a:rPr>
                        <a:t> pre </a:t>
                      </a:r>
                      <a:r>
                        <a:rPr sz="1800" b="0" dirty="0" err="1">
                          <a:solidFill>
                            <a:srgbClr val="333333"/>
                          </a:solidFill>
                          <a:latin typeface="Arial"/>
                        </a:rPr>
                        <a:t>všetkých</a:t>
                      </a:r>
                      <a:endParaRPr sz="1800" b="0" dirty="0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54000" marR="108000" marT="43200" marB="43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68000" y="4014000"/>
            <a:ext cx="11256119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0">
                <a:solidFill>
                  <a:srgbClr val="54595F"/>
                </a:solidFill>
                <a:latin typeface="Arial"/>
              </a:rPr>
              <a:t>Vlastné GPT (Modely GPT) plánuje OpenAI ukončiť. Nové postupy na nich nestavajte.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8000" y="396000"/>
            <a:ext cx="11256119" cy="684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Arial"/>
              </a:rPr>
              <a:t>Agent v priestore: čo vie a kto ho smie vytvoriť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1170000"/>
            <a:ext cx="1080000" cy="504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68000" y="6066000"/>
            <a:ext cx="1125611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54595F"/>
                </a:solidFill>
                <a:latin typeface="Arial"/>
              </a:rPr>
              <a:t>Zdroj: OpenAI Help, Workspace Agents; OpenAI, Business release notes (22. 4., 21. 5., 6. 7. 2026), overené 10. 10.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" y="6390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54595F"/>
                </a:solidFill>
                <a:latin typeface="Arial"/>
              </a:rPr>
              <a:t>ChatGPT Business v praxi | Altenova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44120" y="6390000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54595F"/>
                </a:solidFill>
                <a:latin typeface="Arial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1475999"/>
            <a:ext cx="11256119" cy="44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0">
                <a:solidFill>
                  <a:srgbClr val="333333"/>
                </a:solidFill>
                <a:latin typeface="Arial"/>
              </a:rPr>
              <a:t>Vytvára sa zo šablóny alebo v nástroji na tvorbu agentov</a:t>
            </a:r>
          </a:p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0">
                <a:solidFill>
                  <a:srgbClr val="333333"/>
                </a:solidFill>
                <a:latin typeface="Arial"/>
              </a:rPr>
              <a:t>Môže bežať podľa plánu a pracovať s pripojenými aplikáciami</a:t>
            </a:r>
          </a:p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0">
                <a:solidFill>
                  <a:srgbClr val="333333"/>
                </a:solidFill>
                <a:latin typeface="Arial"/>
              </a:rPr>
              <a:t>Zdieľanie: súkromne, cez odkaz alebo v adresári priestoru</a:t>
            </a:r>
          </a:p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0">
                <a:solidFill>
                  <a:srgbClr val="333333"/>
                </a:solidFill>
                <a:latin typeface="Arial"/>
              </a:rPr>
              <a:t>Členovia ho vytvárajú, len ak to správca povolí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8000" y="156670"/>
            <a:ext cx="11256119" cy="92333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3000" b="1" dirty="0" err="1">
                <a:solidFill>
                  <a:srgbClr val="000000"/>
                </a:solidFill>
                <a:latin typeface="Arial"/>
              </a:rPr>
              <a:t>Doplnok</a:t>
            </a:r>
            <a:r>
              <a:rPr lang="sk-SK" sz="3000" b="1" dirty="0">
                <a:solidFill>
                  <a:srgbClr val="000000"/>
                </a:solidFill>
                <a:latin typeface="Arial"/>
              </a:rPr>
              <a:t> (</a:t>
            </a:r>
            <a:r>
              <a:rPr lang="sk-SK" sz="3000" b="1" dirty="0" err="1">
                <a:solidFill>
                  <a:srgbClr val="000000"/>
                </a:solidFill>
                <a:latin typeface="Arial"/>
              </a:rPr>
              <a:t>Plugins</a:t>
            </a:r>
            <a:r>
              <a:rPr lang="sk-SK" sz="3000" b="1" dirty="0">
                <a:solidFill>
                  <a:srgbClr val="000000"/>
                </a:solidFill>
                <a:latin typeface="Arial"/>
              </a:rPr>
              <a:t>)</a:t>
            </a:r>
            <a:r>
              <a:rPr sz="3000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000000"/>
                </a:solidFill>
                <a:latin typeface="Arial"/>
              </a:rPr>
              <a:t>sprístupní</a:t>
            </a:r>
            <a:r>
              <a:rPr sz="3000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000000"/>
                </a:solidFill>
                <a:latin typeface="Arial"/>
              </a:rPr>
              <a:t>nástroj</a:t>
            </a:r>
            <a:r>
              <a:rPr sz="3000" b="1" dirty="0">
                <a:solidFill>
                  <a:srgbClr val="000000"/>
                </a:solidFill>
                <a:latin typeface="Arial"/>
              </a:rPr>
              <a:t>, </a:t>
            </a:r>
            <a:r>
              <a:rPr sz="3000" b="1" dirty="0" err="1">
                <a:solidFill>
                  <a:srgbClr val="000000"/>
                </a:solidFill>
                <a:latin typeface="Arial"/>
              </a:rPr>
              <a:t>prístup</a:t>
            </a:r>
            <a:r>
              <a:rPr sz="3000" b="1" dirty="0">
                <a:solidFill>
                  <a:srgbClr val="000000"/>
                </a:solidFill>
                <a:latin typeface="Arial"/>
              </a:rPr>
              <a:t> k </a:t>
            </a:r>
            <a:r>
              <a:rPr sz="3000" b="1" dirty="0" err="1">
                <a:solidFill>
                  <a:srgbClr val="000000"/>
                </a:solidFill>
                <a:latin typeface="Arial"/>
              </a:rPr>
              <a:t>dátam</a:t>
            </a:r>
            <a:r>
              <a:rPr sz="3000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000000"/>
                </a:solidFill>
                <a:latin typeface="Arial"/>
              </a:rPr>
              <a:t>dáva</a:t>
            </a:r>
            <a:r>
              <a:rPr sz="3000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000000"/>
                </a:solidFill>
                <a:latin typeface="Arial"/>
              </a:rPr>
              <a:t>váš</a:t>
            </a:r>
            <a:r>
              <a:rPr sz="3000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000000"/>
                </a:solidFill>
                <a:latin typeface="Arial"/>
              </a:rPr>
              <a:t>účet</a:t>
            </a:r>
            <a:endParaRPr sz="30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68000" y="1170000"/>
            <a:ext cx="1080000" cy="504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68000" y="6066000"/>
            <a:ext cx="1125611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54595F"/>
                </a:solidFill>
                <a:latin typeface="Arial"/>
              </a:rPr>
              <a:t>Zdroj: OpenAI, Apps and connectors; OpenAI, Business release notes (11. 3., 29. 9. 2026), overené 10. 10.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" y="6390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54595F"/>
                </a:solidFill>
                <a:latin typeface="Arial"/>
              </a:rPr>
              <a:t>ChatGPT Business v praxi | Altenova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44120" y="6390000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54595F"/>
                </a:solidFill>
                <a:latin typeface="Arial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1475999"/>
            <a:ext cx="11256119" cy="2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0">
                <a:solidFill>
                  <a:srgbClr val="333333"/>
                </a:solidFill>
                <a:latin typeface="Arial"/>
              </a:rPr>
              <a:t>Správca určí, ktoré doplnky môžete používať</a:t>
            </a:r>
          </a:p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0">
                <a:solidFill>
                  <a:srgbClr val="333333"/>
                </a:solidFill>
                <a:latin typeface="Arial"/>
              </a:rPr>
              <a:t>Svoj účet v danej službe autorizujete vy</a:t>
            </a:r>
          </a:p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0">
                <a:solidFill>
                  <a:srgbClr val="333333"/>
                </a:solidFill>
                <a:latin typeface="Arial"/>
              </a:rPr>
              <a:t>Doplnok vidí len to, k čomu má prístup váš účet</a:t>
            </a:r>
          </a:p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0">
                <a:solidFill>
                  <a:srgbClr val="333333"/>
                </a:solidFill>
                <a:latin typeface="Arial"/>
              </a:rPr>
              <a:t>Microsoft Teams v priestore Altenovy treba overiť</a:t>
            </a:r>
          </a:p>
        </p:txBody>
      </p:sp>
      <p:grpSp>
        <p:nvGrpSpPr>
          <p:cNvPr id="10" name="Skupina 9">
            <a:extLst>
              <a:ext uri="{FF2B5EF4-FFF2-40B4-BE49-F238E27FC236}">
                <a16:creationId xmlns:a16="http://schemas.microsoft.com/office/drawing/2014/main" id="{B7AE2466-BBF0-FE71-1679-B2074A43B1CA}"/>
              </a:ext>
            </a:extLst>
          </p:cNvPr>
          <p:cNvGrpSpPr/>
          <p:nvPr/>
        </p:nvGrpSpPr>
        <p:grpSpPr>
          <a:xfrm>
            <a:off x="468000" y="4176000"/>
            <a:ext cx="11256119" cy="1655311"/>
            <a:chOff x="468000" y="4176000"/>
            <a:chExt cx="11256119" cy="1655311"/>
          </a:xfrm>
        </p:grpSpPr>
        <p:pic>
          <p:nvPicPr>
            <p:cNvPr id="8" name="Picture 7" descr="doplnky_top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8000" y="4176000"/>
              <a:ext cx="11256119" cy="1655311"/>
            </a:xfrm>
            <a:prstGeom prst="rect">
              <a:avLst/>
            </a:prstGeom>
            <a:ln w="9525">
              <a:solidFill>
                <a:srgbClr val="D9D9D9"/>
              </a:solidFill>
            </a:ln>
          </p:spPr>
        </p:pic>
        <p:pic>
          <p:nvPicPr>
            <p:cNvPr id="9" name="Doplnky – ikona z rozhrania ChatGPT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24456" y="4251598"/>
              <a:ext cx="432816" cy="43281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8000" y="396000"/>
            <a:ext cx="11256119" cy="684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Arial"/>
              </a:rPr>
              <a:t>Pred zdieľaním skontrolujte komu a čo posielate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1170000"/>
            <a:ext cx="1080000" cy="504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68000" y="6066000"/>
            <a:ext cx="1125611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54595F"/>
                </a:solidFill>
                <a:latin typeface="Arial"/>
              </a:rPr>
              <a:t>Zdroj: OpenAI Help, Workspace Agents; OpenAI, Business release notes, 29. 9. 2026, overené 10. 10.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" y="6390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54595F"/>
                </a:solidFill>
                <a:latin typeface="Arial"/>
              </a:rPr>
              <a:t>ChatGPT Business v praxi | Altenova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44120" y="6390000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54595F"/>
                </a:solidFill>
                <a:latin typeface="Arial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1475999"/>
            <a:ext cx="11256119" cy="44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1">
                <a:solidFill>
                  <a:srgbClr val="333333"/>
                </a:solidFill>
                <a:latin typeface="Arial"/>
              </a:rPr>
              <a:t>Komu:</a:t>
            </a:r>
            <a:r>
              <a:rPr sz="2200" b="0">
                <a:solidFill>
                  <a:srgbClr val="333333"/>
                </a:solidFill>
                <a:latin typeface="Arial"/>
              </a:rPr>
              <a:t> konkrétni ľudia, skupina, celý priestor alebo odkaz</a:t>
            </a:r>
          </a:p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1">
                <a:solidFill>
                  <a:srgbClr val="333333"/>
                </a:solidFill>
                <a:latin typeface="Arial"/>
              </a:rPr>
              <a:t>Čo:</a:t>
            </a:r>
            <a:r>
              <a:rPr sz="2200" b="0">
                <a:solidFill>
                  <a:srgbClr val="333333"/>
                </a:solidFill>
                <a:latin typeface="Arial"/>
              </a:rPr>
              <a:t> čet, projekt, agent alebo stránka</a:t>
            </a:r>
          </a:p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1">
                <a:solidFill>
                  <a:srgbClr val="333333"/>
                </a:solidFill>
                <a:latin typeface="Arial"/>
              </a:rPr>
              <a:t>Oprávnenie:</a:t>
            </a:r>
            <a:r>
              <a:rPr sz="2200" b="0">
                <a:solidFill>
                  <a:srgbClr val="333333"/>
                </a:solidFill>
                <a:latin typeface="Arial"/>
              </a:rPr>
              <a:t> môže používať alebo môže upravovať</a:t>
            </a:r>
          </a:p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1">
                <a:solidFill>
                  <a:srgbClr val="333333"/>
                </a:solidFill>
                <a:latin typeface="Arial"/>
              </a:rPr>
              <a:t>Obsah:</a:t>
            </a:r>
            <a:r>
              <a:rPr sz="2200" b="0">
                <a:solidFill>
                  <a:srgbClr val="333333"/>
                </a:solidFill>
                <a:latin typeface="Arial"/>
              </a:rPr>
              <a:t> zmluvy, ceny a osobné údaje len oprávneným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8000" y="396000"/>
            <a:ext cx="11256119" cy="684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Arial"/>
              </a:rPr>
              <a:t>Ochrana údajov nezaručí správnosť výstupu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1170000"/>
            <a:ext cx="1080000" cy="504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68000" y="6066000"/>
            <a:ext cx="1125611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54595F"/>
                </a:solidFill>
                <a:latin typeface="Arial"/>
              </a:rPr>
              <a:t>Zdroj: OpenAI, ChatGPT pricing, overené 10. 10.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" y="6390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54595F"/>
                </a:solidFill>
                <a:latin typeface="Arial"/>
              </a:rPr>
              <a:t>ChatGPT Business v praxi | Altenova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44120" y="6390000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54595F"/>
                </a:solidFill>
                <a:latin typeface="Arial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1475999"/>
            <a:ext cx="5340059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Arial"/>
              </a:rPr>
              <a:t>Ochrana údajov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1944000"/>
            <a:ext cx="5340059" cy="21117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0" dirty="0">
                <a:solidFill>
                  <a:srgbClr val="333333"/>
                </a:solidFill>
                <a:latin typeface="Arial"/>
              </a:rPr>
              <a:t>Business </a:t>
            </a:r>
            <a:r>
              <a:rPr sz="2200" b="0" dirty="0" err="1">
                <a:solidFill>
                  <a:srgbClr val="333333"/>
                </a:solidFill>
                <a:latin typeface="Arial"/>
              </a:rPr>
              <a:t>predvolene</a:t>
            </a:r>
            <a:r>
              <a:rPr sz="22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333333"/>
                </a:solidFill>
                <a:latin typeface="Arial"/>
              </a:rPr>
              <a:t>netrénuje</a:t>
            </a:r>
            <a:r>
              <a:rPr sz="22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333333"/>
                </a:solidFill>
                <a:latin typeface="Arial"/>
              </a:rPr>
              <a:t>na</a:t>
            </a:r>
            <a:r>
              <a:rPr sz="22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333333"/>
                </a:solidFill>
                <a:latin typeface="Arial"/>
              </a:rPr>
              <a:t>vašich</a:t>
            </a:r>
            <a:r>
              <a:rPr sz="22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333333"/>
                </a:solidFill>
                <a:latin typeface="Arial"/>
              </a:rPr>
              <a:t>dátach</a:t>
            </a:r>
            <a:endParaRPr sz="2200" b="0" dirty="0">
              <a:solidFill>
                <a:srgbClr val="333333"/>
              </a:solidFill>
              <a:latin typeface="Arial"/>
            </a:endParaRPr>
          </a:p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0" dirty="0" err="1">
                <a:solidFill>
                  <a:srgbClr val="333333"/>
                </a:solidFill>
                <a:latin typeface="Arial"/>
              </a:rPr>
              <a:t>Prihlásenie</a:t>
            </a:r>
            <a:r>
              <a:rPr sz="2200" b="0" dirty="0">
                <a:solidFill>
                  <a:srgbClr val="333333"/>
                </a:solidFill>
                <a:latin typeface="Arial"/>
              </a:rPr>
              <a:t> s MFA, </a:t>
            </a:r>
            <a:r>
              <a:rPr sz="2200" b="0" dirty="0" err="1">
                <a:solidFill>
                  <a:srgbClr val="333333"/>
                </a:solidFill>
                <a:latin typeface="Arial"/>
              </a:rPr>
              <a:t>správa</a:t>
            </a:r>
            <a:r>
              <a:rPr sz="22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333333"/>
                </a:solidFill>
                <a:latin typeface="Arial"/>
              </a:rPr>
              <a:t>priestoru</a:t>
            </a:r>
            <a:endParaRPr sz="2200" b="0" dirty="0">
              <a:solidFill>
                <a:srgbClr val="333333"/>
              </a:solidFill>
              <a:latin typeface="Arial"/>
            </a:endParaRPr>
          </a:p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0" dirty="0" err="1">
                <a:solidFill>
                  <a:srgbClr val="333333"/>
                </a:solidFill>
                <a:latin typeface="Arial"/>
              </a:rPr>
              <a:t>Čo</a:t>
            </a:r>
            <a:r>
              <a:rPr sz="22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333333"/>
                </a:solidFill>
                <a:latin typeface="Arial"/>
              </a:rPr>
              <a:t>smiete</a:t>
            </a:r>
            <a:r>
              <a:rPr sz="22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333333"/>
                </a:solidFill>
                <a:latin typeface="Arial"/>
              </a:rPr>
              <a:t>nahrať</a:t>
            </a:r>
            <a:r>
              <a:rPr sz="2200" b="0" dirty="0">
                <a:solidFill>
                  <a:srgbClr val="333333"/>
                </a:solidFill>
                <a:latin typeface="Arial"/>
              </a:rPr>
              <a:t>, </a:t>
            </a:r>
            <a:r>
              <a:rPr sz="2200" b="0" dirty="0" err="1">
                <a:solidFill>
                  <a:srgbClr val="333333"/>
                </a:solidFill>
                <a:latin typeface="Arial"/>
              </a:rPr>
              <a:t>určujú</a:t>
            </a:r>
            <a:r>
              <a:rPr sz="22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333333"/>
                </a:solidFill>
                <a:latin typeface="Arial"/>
              </a:rPr>
              <a:t>pravidlá</a:t>
            </a:r>
            <a:r>
              <a:rPr sz="2200" b="0" dirty="0">
                <a:solidFill>
                  <a:srgbClr val="333333"/>
                </a:solidFill>
                <a:latin typeface="Arial"/>
              </a:rPr>
              <a:t> </a:t>
            </a:r>
            <a:r>
              <a:rPr lang="sk-SK" sz="2200" dirty="0">
                <a:solidFill>
                  <a:srgbClr val="333333"/>
                </a:solidFill>
                <a:latin typeface="Arial"/>
              </a:rPr>
              <a:t>zamestnávateľa</a:t>
            </a:r>
            <a:endParaRPr sz="2200" b="0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84060" y="1475999"/>
            <a:ext cx="5340059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Arial"/>
              </a:rPr>
              <a:t>Správnosť výstupu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4060" y="1944000"/>
            <a:ext cx="5340059" cy="39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0" dirty="0">
                <a:solidFill>
                  <a:srgbClr val="333333"/>
                </a:solidFill>
                <a:latin typeface="Arial"/>
              </a:rPr>
              <a:t>Model </a:t>
            </a:r>
            <a:r>
              <a:rPr sz="2200" b="0" dirty="0" err="1">
                <a:solidFill>
                  <a:srgbClr val="333333"/>
                </a:solidFill>
                <a:latin typeface="Arial"/>
              </a:rPr>
              <a:t>sa</a:t>
            </a:r>
            <a:r>
              <a:rPr sz="22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333333"/>
                </a:solidFill>
                <a:latin typeface="Arial"/>
              </a:rPr>
              <a:t>môže</a:t>
            </a:r>
            <a:r>
              <a:rPr sz="22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333333"/>
                </a:solidFill>
                <a:latin typeface="Arial"/>
              </a:rPr>
              <a:t>mýliť</a:t>
            </a:r>
            <a:r>
              <a:rPr sz="22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333333"/>
                </a:solidFill>
                <a:latin typeface="Arial"/>
              </a:rPr>
              <a:t>aj</a:t>
            </a:r>
            <a:r>
              <a:rPr sz="2200" b="0" dirty="0">
                <a:solidFill>
                  <a:srgbClr val="333333"/>
                </a:solidFill>
                <a:latin typeface="Arial"/>
              </a:rPr>
              <a:t> v </a:t>
            </a:r>
            <a:r>
              <a:rPr sz="2200" b="0" dirty="0" err="1">
                <a:solidFill>
                  <a:srgbClr val="333333"/>
                </a:solidFill>
                <a:latin typeface="Arial"/>
              </a:rPr>
              <a:t>chránenom</a:t>
            </a:r>
            <a:r>
              <a:rPr sz="22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333333"/>
                </a:solidFill>
                <a:latin typeface="Arial"/>
              </a:rPr>
              <a:t>priestore</a:t>
            </a:r>
            <a:endParaRPr sz="2200" b="0" dirty="0">
              <a:solidFill>
                <a:srgbClr val="333333"/>
              </a:solidFill>
              <a:latin typeface="Arial"/>
            </a:endParaRPr>
          </a:p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0" dirty="0" err="1">
                <a:solidFill>
                  <a:srgbClr val="333333"/>
                </a:solidFill>
                <a:latin typeface="Arial"/>
              </a:rPr>
              <a:t>Citácia</a:t>
            </a:r>
            <a:r>
              <a:rPr sz="22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333333"/>
                </a:solidFill>
                <a:latin typeface="Arial"/>
              </a:rPr>
              <a:t>môže</a:t>
            </a:r>
            <a:r>
              <a:rPr sz="22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333333"/>
                </a:solidFill>
                <a:latin typeface="Arial"/>
              </a:rPr>
              <a:t>ukazovať</a:t>
            </a:r>
            <a:r>
              <a:rPr sz="22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333333"/>
                </a:solidFill>
                <a:latin typeface="Arial"/>
              </a:rPr>
              <a:t>na</a:t>
            </a:r>
            <a:r>
              <a:rPr sz="22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333333"/>
                </a:solidFill>
                <a:latin typeface="Arial"/>
              </a:rPr>
              <a:t>nesprávne</a:t>
            </a:r>
            <a:r>
              <a:rPr sz="22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333333"/>
                </a:solidFill>
                <a:latin typeface="Arial"/>
              </a:rPr>
              <a:t>miesto</a:t>
            </a:r>
            <a:endParaRPr sz="2200" b="0" dirty="0">
              <a:solidFill>
                <a:srgbClr val="333333"/>
              </a:solidFill>
              <a:latin typeface="Arial"/>
            </a:endParaRPr>
          </a:p>
          <a:p>
            <a:pPr marL="288000" indent="-288000">
              <a:lnSpc>
                <a:spcPct val="105000"/>
              </a:lnSpc>
              <a:spcAft>
                <a:spcPts val="1400"/>
              </a:spcAft>
              <a:buClr>
                <a:srgbClr val="E60000"/>
              </a:buClr>
              <a:buFont typeface="Arial"/>
              <a:buChar char="•"/>
            </a:pPr>
            <a:r>
              <a:rPr sz="2200" b="0" dirty="0">
                <a:solidFill>
                  <a:srgbClr val="333333"/>
                </a:solidFill>
                <a:latin typeface="Arial"/>
              </a:rPr>
              <a:t>Za </a:t>
            </a:r>
            <a:r>
              <a:rPr sz="2200" b="0" dirty="0" err="1">
                <a:solidFill>
                  <a:srgbClr val="333333"/>
                </a:solidFill>
                <a:latin typeface="Arial"/>
              </a:rPr>
              <a:t>odborný</a:t>
            </a:r>
            <a:r>
              <a:rPr sz="22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333333"/>
                </a:solidFill>
                <a:latin typeface="Arial"/>
              </a:rPr>
              <a:t>záver</a:t>
            </a:r>
            <a:r>
              <a:rPr sz="22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333333"/>
                </a:solidFill>
                <a:latin typeface="Arial"/>
              </a:rPr>
              <a:t>zodpovedá</a:t>
            </a:r>
            <a:r>
              <a:rPr sz="22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333333"/>
                </a:solidFill>
                <a:latin typeface="Arial"/>
              </a:rPr>
              <a:t>odborník</a:t>
            </a:r>
            <a:endParaRPr sz="2200" b="0" dirty="0">
              <a:solidFill>
                <a:srgbClr val="333333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8000" y="396000"/>
            <a:ext cx="11256119" cy="684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Arial"/>
              </a:rPr>
              <a:t>Päť otázok pred použitím výstupu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1170000"/>
            <a:ext cx="1080000" cy="504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68000" y="6390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54595F"/>
                </a:solidFill>
                <a:latin typeface="Arial"/>
              </a:rPr>
              <a:t>ChatGPT Business v praxi | Altenova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44120" y="6390000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54595F"/>
                </a:solidFill>
                <a:latin typeface="Arial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" y="1475999"/>
            <a:ext cx="503999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>
                <a:solidFill>
                  <a:srgbClr val="E60000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4000" y="1530000"/>
            <a:ext cx="10680119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0">
                <a:solidFill>
                  <a:srgbClr val="333333"/>
                </a:solidFill>
                <a:latin typeface="Arial"/>
              </a:rPr>
              <a:t>Dá sa každé tvrdenie dohľadať v zdroji (súbor, článok, strana)?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2286000"/>
            <a:ext cx="503999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>
                <a:solidFill>
                  <a:srgbClr val="E6000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4000" y="2340000"/>
            <a:ext cx="10680119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0">
                <a:solidFill>
                  <a:srgbClr val="333333"/>
                </a:solidFill>
                <a:latin typeface="Arial"/>
              </a:rPr>
              <a:t>Je to správna a platná verzia dokumentu?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3096000"/>
            <a:ext cx="503999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>
                <a:solidFill>
                  <a:srgbClr val="E60000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4000" y="3150000"/>
            <a:ext cx="10680119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0">
                <a:solidFill>
                  <a:srgbClr val="333333"/>
                </a:solidFill>
                <a:latin typeface="Arial"/>
              </a:rPr>
              <a:t>Čo chýba a je to zreteľne označené?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3906000"/>
            <a:ext cx="503999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>
                <a:solidFill>
                  <a:srgbClr val="E60000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4000" y="3960000"/>
            <a:ext cx="10680119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0">
                <a:solidFill>
                  <a:srgbClr val="333333"/>
                </a:solidFill>
                <a:latin typeface="Arial"/>
              </a:rPr>
              <a:t>Neodporujú si podklady?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000" y="4716000"/>
            <a:ext cx="503999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>
                <a:solidFill>
                  <a:srgbClr val="E60000"/>
                </a:solidFill>
                <a:latin typeface="Arial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4000" y="4770000"/>
            <a:ext cx="10680119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0">
                <a:solidFill>
                  <a:srgbClr val="333333"/>
                </a:solidFill>
                <a:latin typeface="Arial"/>
              </a:rPr>
              <a:t>Ktoré rozhodnutie musí urobiť odborník?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8000" y="396000"/>
            <a:ext cx="11256119" cy="684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Arial"/>
              </a:rPr>
              <a:t>Dobré zadanie má päť častí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1170000"/>
            <a:ext cx="1080000" cy="504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68000" y="6390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54595F"/>
                </a:solidFill>
                <a:latin typeface="Arial"/>
              </a:rPr>
              <a:t>ChatGPT Business v praxi | Altenova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44120" y="6390000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54595F"/>
                </a:solidFill>
                <a:latin typeface="Arial"/>
              </a:rPr>
              <a:t>19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68000" y="1404000"/>
          <a:ext cx="11232000" cy="270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5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Časť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Príklad: technická správa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Cieľ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Arial"/>
                        </a:rPr>
                        <a:t>Návrh kapitoly 2 technickej správy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Kontext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Arial"/>
                        </a:rPr>
                        <a:t>Malý projekt, SHZ pre skladovú halu, čitateľ je investor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Vstupy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Arial"/>
                        </a:rPr>
                        <a:t>Zadanie zákazky a zápis z porady v tomto projekte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Výstup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Arial"/>
                        </a:rPr>
                        <a:t>Text do Wordu, najviac 1 strana, chýbajúce údaje v [hranatých zátvorkách]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Kontrola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Arial"/>
                        </a:rPr>
                        <a:t>Pri každom parametri zdroj, nič nedopĺňať</a:t>
                      </a:r>
                    </a:p>
                  </a:txBody>
                  <a:tcPr marL="54000" marR="108000" marT="43200" marB="43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8000" y="396000"/>
            <a:ext cx="11256119" cy="684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Arial"/>
              </a:rPr>
              <a:t>Cvičenie: váš prvý projekt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1170000"/>
            <a:ext cx="1080000" cy="504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68000" y="6390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54595F"/>
                </a:solidFill>
                <a:latin typeface="Arial"/>
              </a:rPr>
              <a:t>ChatGPT Business v praxi | Altenova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44120" y="6390000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54595F"/>
                </a:solidFill>
                <a:latin typeface="Arial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" y="1475999"/>
            <a:ext cx="5340059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Arial"/>
              </a:rPr>
              <a:t>Postup (10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1944000"/>
            <a:ext cx="5340059" cy="39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8000" indent="-288000">
              <a:spcAft>
                <a:spcPts val="1400"/>
              </a:spcAft>
              <a:buClr>
                <a:srgbClr val="E60000"/>
              </a:buClr>
              <a:buFont typeface="Arial"/>
              <a:buAutoNum type="arabicPlain"/>
            </a:pPr>
            <a:r>
              <a:rPr sz="2200" b="0">
                <a:solidFill>
                  <a:srgbClr val="333333"/>
                </a:solidFill>
                <a:latin typeface="Arial"/>
              </a:rPr>
              <a:t>Založte projekt „Skúška – vaše meno“</a:t>
            </a:r>
          </a:p>
          <a:p>
            <a:pPr marL="288000" indent="-288000">
              <a:spcAft>
                <a:spcPts val="1400"/>
              </a:spcAft>
              <a:buClr>
                <a:srgbClr val="E60000"/>
              </a:buClr>
              <a:buFont typeface="Arial"/>
              <a:buAutoNum type="arabicPlain"/>
            </a:pPr>
            <a:r>
              <a:rPr sz="2200" b="0">
                <a:solidFill>
                  <a:srgbClr val="333333"/>
                </a:solidFill>
                <a:latin typeface="Arial"/>
              </a:rPr>
              <a:t>Vložte inštrukcie z pracovného zošita</a:t>
            </a:r>
          </a:p>
          <a:p>
            <a:pPr marL="288000" indent="-288000">
              <a:spcAft>
                <a:spcPts val="1400"/>
              </a:spcAft>
              <a:buClr>
                <a:srgbClr val="E60000"/>
              </a:buClr>
              <a:buFont typeface="Arial"/>
              <a:buAutoNum type="arabicPlain"/>
            </a:pPr>
            <a:r>
              <a:rPr sz="2200" b="0">
                <a:solidFill>
                  <a:srgbClr val="333333"/>
                </a:solidFill>
                <a:latin typeface="Arial"/>
              </a:rPr>
              <a:t>Nahrajte súbor Modelovy_dopyt_zakaznika.docx</a:t>
            </a:r>
          </a:p>
          <a:p>
            <a:pPr marL="288000" indent="-288000">
              <a:spcAft>
                <a:spcPts val="1400"/>
              </a:spcAft>
              <a:buClr>
                <a:srgbClr val="E60000"/>
              </a:buClr>
              <a:buFont typeface="Arial"/>
              <a:buAutoNum type="arabicPlain"/>
            </a:pPr>
            <a:r>
              <a:rPr sz="2200" b="0">
                <a:solidFill>
                  <a:srgbClr val="333333"/>
                </a:solidFill>
                <a:latin typeface="Arial"/>
              </a:rPr>
              <a:t>Zadajte úlohu z pracovného zošita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4060" y="1475999"/>
            <a:ext cx="5340059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Arial"/>
              </a:rPr>
              <a:t>Kontrola (5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4060" y="1944000"/>
            <a:ext cx="5340059" cy="39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8000" indent="-288000">
              <a:spcAft>
                <a:spcPts val="1400"/>
              </a:spcAft>
              <a:buClr>
                <a:srgbClr val="E60000"/>
              </a:buClr>
              <a:buFont typeface="Arial"/>
              <a:buChar char="☐"/>
            </a:pPr>
            <a:r>
              <a:rPr sz="2200" b="0">
                <a:solidFill>
                  <a:srgbClr val="333333"/>
                </a:solidFill>
                <a:latin typeface="Arial"/>
              </a:rPr>
              <a:t>Odpoveď vychádza iba z dopytu</a:t>
            </a:r>
          </a:p>
          <a:p>
            <a:pPr marL="288000" indent="-288000">
              <a:spcAft>
                <a:spcPts val="1400"/>
              </a:spcAft>
              <a:buClr>
                <a:srgbClr val="E60000"/>
              </a:buClr>
              <a:buFont typeface="Arial"/>
              <a:buChar char="☐"/>
            </a:pPr>
            <a:r>
              <a:rPr sz="2200" b="0">
                <a:solidFill>
                  <a:srgbClr val="333333"/>
                </a:solidFill>
                <a:latin typeface="Arial"/>
              </a:rPr>
              <a:t>Chýbajúce údaje sú v samostatnom zozname</a:t>
            </a:r>
          </a:p>
          <a:p>
            <a:pPr marL="288000" indent="-288000">
              <a:spcAft>
                <a:spcPts val="1400"/>
              </a:spcAft>
              <a:buClr>
                <a:srgbClr val="E60000"/>
              </a:buClr>
              <a:buFont typeface="Arial"/>
              <a:buChar char="☐"/>
            </a:pPr>
            <a:r>
              <a:rPr sz="2200" b="0">
                <a:solidFill>
                  <a:srgbClr val="333333"/>
                </a:solidFill>
                <a:latin typeface="Arial"/>
              </a:rPr>
              <a:t>Nie je tam vymyslená cena, termín ani parameter</a:t>
            </a:r>
          </a:p>
          <a:p>
            <a:pPr marL="288000" indent="-288000">
              <a:spcAft>
                <a:spcPts val="1400"/>
              </a:spcAft>
              <a:buClr>
                <a:srgbClr val="E60000"/>
              </a:buClr>
              <a:buFont typeface="Arial"/>
              <a:buChar char="☐"/>
            </a:pPr>
            <a:r>
              <a:rPr sz="2200" b="0">
                <a:solidFill>
                  <a:srgbClr val="333333"/>
                </a:solidFill>
                <a:latin typeface="Arial"/>
              </a:rPr>
              <a:t>Pri údajoch je uvedený zdroj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4232</Words>
  <Application>Microsoft Office PowerPoint</Application>
  <PresentationFormat>Širokouhlá</PresentationFormat>
  <Paragraphs>382</Paragraphs>
  <Slides>20</Slides>
  <Notes>20</Notes>
  <HiddenSlides>0</HiddenSlides>
  <MMClips>0</MMClips>
  <ScaleCrop>false</ScaleCrop>
  <HeadingPairs>
    <vt:vector size="6" baseType="variant">
      <vt:variant>
        <vt:lpstr>Použité písma</vt:lpstr>
      </vt:variant>
      <vt:variant>
        <vt:i4>2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Rastislav Kozlik</cp:lastModifiedBy>
  <cp:revision>1</cp:revision>
  <dcterms:created xsi:type="dcterms:W3CDTF">2013-01-27T09:14:16Z</dcterms:created>
  <dcterms:modified xsi:type="dcterms:W3CDTF">2026-10-11T05:54:19Z</dcterms:modified>
  <cp:category/>
</cp:coreProperties>
</file>